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56" r:id="rId3"/>
    <p:sldId id="260" r:id="rId5"/>
    <p:sldId id="261" r:id="rId6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63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0FF"/>
    <a:srgbClr val="66B6FF"/>
    <a:srgbClr val="205EFF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8" Type="http://schemas.openxmlformats.org/officeDocument/2006/relationships/slide" Target="slides/slide5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77240" y="2041525"/>
            <a:ext cx="87452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让 AI 按「流水线」干活</a:t>
            </a:r>
            <a:endParaRPr lang="zh-CN" altLang="en-US" sz="5400" b="1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r>
              <a:rPr lang="zh-CN" altLang="en-US" sz="5400" b="1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/>
            </a:r>
            <a:r>
              <a:rPr lang="zh-CN" altLang="en-US" sz="5400" b="1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/>
            </a:r>
            <a:endParaRPr lang="zh-CN" altLang="en-US" sz="5400" b="1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75665" y="4089400"/>
            <a:ext cx="10151745" cy="553085"/>
            <a:chOff x="1329" y="6087"/>
            <a:chExt cx="15987" cy="871"/>
          </a:xfrm>
        </p:grpSpPr>
        <p:sp>
          <p:nvSpPr>
            <p:cNvPr id="7" name="矩形 6"/>
            <p:cNvSpPr/>
            <p:nvPr/>
          </p:nvSpPr>
          <p:spPr>
            <a:xfrm>
              <a:off x="1329" y="6087"/>
              <a:ext cx="15987" cy="871"/>
            </a:xfrm>
            <a:prstGeom prst="rect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0800000" scaled="1"/>
            </a:gradFill>
            <a:ln w="12700" cap="flat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426" y="6184"/>
              <a:ext cx="13772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20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design-to-code-max · 全链路前端代码生成 Skill</a:t>
              </a:r>
              <a:r>
                <a:rPr lang="zh-CN" altLang="en-US" sz="220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r>
                <a:rPr lang="zh-CN" altLang="en-US" sz="2200">
                  <a:solidFill>
                    <a:schemeClr val="bg1"/>
                  </a:solidFill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endParaRPr lang="en-US" altLang="zh-CN" sz="220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65505" y="5683250"/>
            <a:ext cx="4320540" cy="504190"/>
            <a:chOff x="1378" y="7979"/>
            <a:chExt cx="6804" cy="794"/>
          </a:xfrm>
        </p:grpSpPr>
        <p:sp>
          <p:nvSpPr>
            <p:cNvPr id="4" name="圆角矩形 3"/>
            <p:cNvSpPr/>
            <p:nvPr/>
          </p:nvSpPr>
          <p:spPr>
            <a:xfrm>
              <a:off x="1379" y="7979"/>
              <a:ext cx="6803" cy="79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78" y="8099"/>
              <a:ext cx="6804" cy="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700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主讲人：王金保</a:t>
              </a:r>
              <a:r>
                <a:rPr lang="en-US" altLang="zh-CN" sz="1700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  </a:t>
              </a:r>
              <a:r>
                <a:rPr lang="en-US" altLang="zh-CN" sz="1700">
                  <a:solidFill>
                    <a:srgbClr val="66B6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｜</a:t>
              </a:r>
              <a:r>
                <a:rPr lang="zh-CN" altLang="en-US" sz="1700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时间：</a:t>
              </a:r>
              <a:r>
                <a:rPr lang="en-US" altLang="zh-CN" sz="1700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2026.08.07</a:t>
              </a:r>
              <a:r>
                <a:rPr lang="en-US" altLang="zh-CN" sz="1700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  </a:t>
              </a:r>
              <a:endParaRPr lang="en-US" altLang="zh-CN" sz="1700">
                <a:solidFill>
                  <a:srgbClr val="0180FF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3863975" y="1632585"/>
            <a:ext cx="4222115" cy="805815"/>
            <a:chOff x="6085" y="2571"/>
            <a:chExt cx="6649" cy="1269"/>
          </a:xfrm>
        </p:grpSpPr>
        <p:sp>
          <p:nvSpPr>
            <p:cNvPr id="17" name="文本框 16"/>
            <p:cNvSpPr txBox="1"/>
            <p:nvPr/>
          </p:nvSpPr>
          <p:spPr>
            <a:xfrm>
              <a:off x="6085" y="2595"/>
              <a:ext cx="1407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01  </a:t>
              </a:r>
              <a:endParaRPr lang="en-US" altLang="zh-CN" sz="4400" b="1">
                <a:solidFill>
                  <a:srgbClr val="0180FF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solidFill>
                    <a:schemeClr val="tx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痛点 · 为什么做</a:t>
              </a:r>
              <a:r>
                <a:rPr lang="zh-CN" altLang="en-US" sz="2600" b="1">
                  <a:solidFill>
                    <a:schemeClr val="tx1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/>
              </a:r>
              <a:endParaRPr lang="zh-CN" altLang="en-US" sz="26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AI 自由编码的 5 个老大难</a:t>
              </a:r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endParaRPr lang="en-US" altLang="zh-CN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7672705" y="1632585"/>
            <a:ext cx="4222115" cy="805815"/>
            <a:chOff x="6085" y="2571"/>
            <a:chExt cx="6649" cy="1269"/>
          </a:xfrm>
        </p:grpSpPr>
        <p:sp>
          <p:nvSpPr>
            <p:cNvPr id="7" name="文本框 6"/>
            <p:cNvSpPr txBox="1"/>
            <p:nvPr/>
          </p:nvSpPr>
          <p:spPr>
            <a:xfrm>
              <a:off x="6085" y="2595"/>
              <a:ext cx="1407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02  </a:t>
              </a:r>
              <a:endParaRPr lang="en-US" altLang="zh-CN" sz="4400" b="1">
                <a:solidFill>
                  <a:srgbClr val="0180FF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全景 · 是什么</a:t>
              </a:r>
              <a:endParaRPr lang="en-US" altLang="zh-CN" sz="26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定位、能力与流水线架构</a:t>
              </a:r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863975" y="3039745"/>
            <a:ext cx="4222115" cy="805815"/>
            <a:chOff x="6085" y="2571"/>
            <a:chExt cx="6649" cy="1269"/>
          </a:xfrm>
        </p:grpSpPr>
        <p:sp>
          <p:nvSpPr>
            <p:cNvPr id="13" name="文本框 12"/>
            <p:cNvSpPr txBox="1"/>
            <p:nvPr/>
          </p:nvSpPr>
          <p:spPr>
            <a:xfrm>
              <a:off x="6085" y="2595"/>
              <a:ext cx="1405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03  </a:t>
              </a:r>
              <a:endParaRPr lang="en-US" altLang="zh-CN" sz="4400" b="1">
                <a:solidFill>
                  <a:srgbClr val="0180FF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机制 · 四大武器</a:t>
              </a:r>
              <a:endParaRPr lang="en-US" altLang="zh-CN" sz="26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高还原 / 门禁 / 状态机 / 偏差库</a:t>
              </a:r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7672705" y="3039745"/>
            <a:ext cx="4222115" cy="805815"/>
            <a:chOff x="6085" y="2571"/>
            <a:chExt cx="6649" cy="1269"/>
          </a:xfrm>
        </p:grpSpPr>
        <p:sp>
          <p:nvSpPr>
            <p:cNvPr id="19" name="文本框 18"/>
            <p:cNvSpPr txBox="1"/>
            <p:nvPr/>
          </p:nvSpPr>
          <p:spPr>
            <a:xfrm>
              <a:off x="6085" y="2595"/>
              <a:ext cx="1401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04  </a:t>
              </a:r>
              <a:endParaRPr lang="en-US" altLang="zh-CN" sz="4400" b="1">
                <a:solidFill>
                  <a:srgbClr val="0180FF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实战 · 怎么用</a:t>
              </a:r>
              <a:endParaRPr lang="en-US" altLang="zh-CN" sz="26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三步上手与人机协作指南</a:t>
              </a:r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863975" y="4446905"/>
            <a:ext cx="4222115" cy="805815"/>
            <a:chOff x="6085" y="2571"/>
            <a:chExt cx="6649" cy="1269"/>
          </a:xfrm>
        </p:grpSpPr>
        <p:sp>
          <p:nvSpPr>
            <p:cNvPr id="23" name="文本框 22"/>
            <p:cNvSpPr txBox="1"/>
            <p:nvPr/>
          </p:nvSpPr>
          <p:spPr>
            <a:xfrm>
              <a:off x="6085" y="2595"/>
              <a:ext cx="1406" cy="12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4400" b="1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05  </a:t>
              </a:r>
              <a:endParaRPr lang="en-US" altLang="zh-CN" sz="4400" b="1">
                <a:solidFill>
                  <a:srgbClr val="0180FF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92" y="2571"/>
              <a:ext cx="4591" cy="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6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共建 · 团队玩法</a:t>
              </a:r>
              <a:endParaRPr lang="en-US" altLang="zh-CN" sz="2600" b="1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sym typeface="+mn-ea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7492" y="3309"/>
              <a:ext cx="5242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经验沉淀，越用越聪明</a:t>
              </a:r>
              <a:r>
                <a:rPr lang="zh-CN" altLang="en-US" sz="160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endParaRPr lang="zh-CN" altLang="en-US" sz="16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01  </a:t>
              </a:r>
              <a:endParaRPr lang="en-US" altLang="zh-CN" sz="9600" b="1">
                <a:solidFill>
                  <a:srgbClr val="0180FF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痛点 · 为什么做</a:t>
              </a:r>
              <a:r>
                <a:rPr lang="zh-CN" altLang="en-US" sz="58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endParaRPr lang="en-US" altLang="zh-CN" sz="5800" b="1">
                <a:latin typeface="Microsoft YaHei" panose="020B0503020204020204" charset="-122"/>
                <a:ea typeface="Microsoft YaHei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Microsoft YaHei" panose="020B0503020204020204" charset="-122"/>
                <a:ea typeface="Microsoft YaHei" panose="020B0503020204020204" charset="-122"/>
              </a:rPr>
              <a:t>PART 01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AI 自由编码的 5 个老大难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1723390" y="4095750"/>
            <a:ext cx="8745220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800">
                <a:solidFill>
                  <a:schemeClr val="bg1"/>
                </a:solidFill>
                <a:latin typeface="Microsoft YaHei" panose="020B0503020204020204" charset="-122"/>
                <a:ea typeface="Microsoft YaHei" panose="020B0503020204020204" charset="-122"/>
              </a:rPr>
              <a:t>谢谢观看 · Q&amp;A</a:t>
            </a:r>
            <a:endParaRPr lang="zh-CN" altLang="en-US" sz="5800">
              <a:solidFill>
                <a:schemeClr val="bg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37360" y="52578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BFE0FF"/>
                </a:solidFill>
                <a:latin typeface="Microsoft YaHei"/>
                <a:ea typeface="Microsoft YaHei"/>
                <a:cs typeface="Microsoft YaHei"/>
              </a:rPr>
              <a:t>skill 获取：XLB 前端开发插件官网 → Skills 市场 → 搜索 design-to-code-max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566928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FE0FF"/>
                </a:solidFill>
                <a:latin typeface="Microsoft YaHei"/>
                <a:ea typeface="Microsoft YaHei"/>
                <a:cs typeface="Microsoft YaHei"/>
              </a:rPr>
              <a:t>数字化中心 · 前端技术部　｜　欢迎试用，欢迎拍砖，欢迎一起补 gotchas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AI 自由编码的「五宗罪」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直接跟 AI 说「帮我写个页面」也能出代码 —— 但实际用起来，问题每次都一样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0664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1618488"/>
            <a:ext cx="1755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" y="2194560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每次都要重新教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2926080"/>
            <a:ext cx="175564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Token 映射、组件库坑位、接口格式…… 每开一个新对话，都得从头说一遍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13608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978200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8200" y="1618488"/>
            <a:ext cx="1755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8200" y="2194560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做到一半断了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8200" y="2926080"/>
            <a:ext cx="175564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中断后再恢复，AI 不记得已经做了什么、做到哪一步，只能重来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1145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15737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5737" y="1618488"/>
            <a:ext cx="1755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5737" y="2194560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还原靠运气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5737" y="2926080"/>
            <a:ext cx="175564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同一个设计稿，这次 padding 对了，下次可能就错，没有固定检查机制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8682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53274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3274" y="1618488"/>
            <a:ext cx="1755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3274" y="2194560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踩过的坑反复踩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3274" y="2926080"/>
            <a:ext cx="175564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一个人踩了 XlbForm cellTheme 的坑，另一个人做新页面又踩一遍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26219" y="1234440"/>
            <a:ext cx="2084831" cy="4069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90811" y="1435608"/>
            <a:ext cx="457200" cy="54864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0811" y="1618488"/>
            <a:ext cx="17556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0811" y="2194560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无法验收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0811" y="2926080"/>
            <a:ext cx="1755648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AI 说「写好了」，但没人系统检查过样式偏差和功能遗漏，全凭肉眼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 AI 不行，是没人给它定流程 —— 痛点即需求，这正是 design-to-code-max 的起点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04 / 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对症下药：把痛点固化成流程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不管谁用、什么时候用，AI 都走同一条流水线 —— 产出标准文档，做标准检查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每次都要重新教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730752" y="1335024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70832" y="1115568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54864" tIns="18288" bIns="18288" wrap="square"/>
          <a:lstStyle/>
          <a:p>
            <a:pPr algn="l"/>
            <a:r>
              <a:rPr sz="14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reference 知识库内置　</a:t>
            </a:r>
            <a:r>
              <a:rPr sz="11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编码规范、token 映射、组件映射、gotchas 随 skill 自带，AI 上岗即是熟手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" y="1988819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做到一半断了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30752" y="2208276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70832" y="1988819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54864" tIns="18288" bIns="18288" wrap="square"/>
          <a:lstStyle/>
          <a:p>
            <a:pPr algn="l"/>
            <a:r>
              <a:rPr sz="14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state.json 状态机　</a:t>
            </a:r>
            <a:r>
              <a:rPr sz="11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进度逐阶段落盘，关机重启也能从断点续接，不靠对话记忆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" y="2862072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还原靠运气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730752" y="3081528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70832" y="2862072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54864" tIns="18288" bIns="18288" wrap="square"/>
          <a:lstStyle/>
          <a:p>
            <a:pPr algn="l"/>
            <a:r>
              <a:rPr sz="14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HTML 解析引擎 + 三要素审计　</a:t>
            </a:r>
            <a:r>
              <a:rPr sz="11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每个样式值都有出处和 token 映射，build 直接消费，不靠 AI 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" y="3735324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踩过的坑反复踩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30752" y="3954780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70832" y="3735324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54864" tIns="18288" bIns="18288" wrap="square"/>
          <a:lstStyle/>
          <a:p>
            <a:pPr algn="l"/>
            <a:r>
              <a:rPr sz="14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偏差库 + gotchas　</a:t>
            </a:r>
            <a:r>
              <a:rPr sz="11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坑发现一次即入库，下次 audit 自动预标注，全队免疫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" y="4608576"/>
            <a:ext cx="3017520" cy="73152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无法验收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730752" y="4828032"/>
            <a:ext cx="502920" cy="292608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370832" y="4608576"/>
            <a:ext cx="7242048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54864" tIns="18288" bIns="18288" wrap="square"/>
          <a:lstStyle/>
          <a:p>
            <a:pPr algn="l"/>
            <a:r>
              <a:rPr sz="14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三道门禁　</a:t>
            </a:r>
            <a:r>
              <a:rPr sz="11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6 处人工确认 + 13 项出口检查 + verify 终检，不过不交付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这个 skill 就是把这些对策固化成一套流程：AI 在流水线上干活，而不是自由发挥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05 / 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02  </a:t>
              </a:r>
              <a:endParaRPr lang="en-US" altLang="zh-CN" sz="9600" b="1">
                <a:solidFill>
                  <a:srgbClr val="0180FF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全景 · 是什么</a:t>
              </a:r>
              <a:r>
                <a:rPr lang="zh-CN" altLang="en-US" sz="58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endParaRPr lang="en-US" altLang="zh-CN" sz="5800" b="1">
                <a:latin typeface="Microsoft YaHei" panose="020B0503020204020204" charset="-122"/>
                <a:ea typeface="Microsoft YaHei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Microsoft YaHei" panose="020B0503020204020204" charset="-122"/>
                <a:ea typeface="Microsoft YaHei" panose="020B0503020204020204" charset="-122"/>
              </a:rPr>
              <a:t>PART 02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定位、核心能力与流水线架构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06 / 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它是什么：设计稿 → 生产代码的全链路交付 Skill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核心思路：让 AI 按标准化流水线工作，而不是自由发挥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12801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三平台支持</a:t>
            </a:r>
            <a:r>
              <a:rPr sz="12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　RN / H5 / PC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1773936"/>
            <a:ext cx="316382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每个平台一条独立流水线，规则完全隔离，互不污染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1396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11396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0852" y="12801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增量需求</a:t>
            </a:r>
            <a:r>
              <a:rPr sz="1200" b="1" i="0">
                <a:solidFill>
                  <a:srgbClr val="30C0B4"/>
                </a:solidFill>
                <a:latin typeface="Microsoft YaHei"/>
                <a:ea typeface="Microsoft YaHei"/>
                <a:cs typeface="Microsoft YaHei"/>
              </a:rPr>
              <a:t>　现有代码加功能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0852" y="1773936"/>
            <a:ext cx="316382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先扫描目标目录与现有代码，再动手，不破坏存量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115568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0" y="1261872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66176" y="1280160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重构需求</a:t>
            </a:r>
            <a:r>
              <a:rPr sz="1200" b="1" i="0">
                <a:solidFill>
                  <a:srgbClr val="EE822F"/>
                </a:solidFill>
                <a:latin typeface="Microsoft YaHei"/>
                <a:ea typeface="Microsoft YaHei"/>
                <a:cs typeface="Microsoft YaHei"/>
              </a:rPr>
              <a:t>　H5→RN 等四种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6" y="1773936"/>
            <a:ext cx="316382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被重构源码是功能点的唯一权威来源，1:1 对齐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76072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" y="3218688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多需求管理</a:t>
            </a:r>
            <a:r>
              <a:rPr sz="1200" b="1" i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　并行 + 续接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" y="3712463"/>
            <a:ext cx="316382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多个需求同时跟踪进度，中断后可从断点恢复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11396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11396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30852" y="3218688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UI 高度还原</a:t>
            </a:r>
            <a:r>
              <a:rPr sz="12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　token 级比对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0852" y="3712463"/>
            <a:ext cx="316382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系统化比对设计稿样式，输出 token 级偏差记录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6720" y="3054096"/>
            <a:ext cx="356616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46720" y="3200400"/>
            <a:ext cx="64008" cy="1463039"/>
          </a:xfrm>
          <a:prstGeom prst="roundRect">
            <a:avLst>
              <a:gd name="adj" fmla="val 50000"/>
            </a:avLst>
          </a:prstGeom>
          <a:solidFill>
            <a:srgbClr val="75B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6" y="3218688"/>
            <a:ext cx="31638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API 规格前置</a:t>
            </a:r>
            <a:r>
              <a:rPr sz="1200" b="1" i="0">
                <a:solidFill>
                  <a:srgbClr val="75BD42"/>
                </a:solidFill>
                <a:latin typeface="Microsoft YaHei"/>
                <a:ea typeface="Microsoft YaHei"/>
                <a:cs typeface="Microsoft YaHei"/>
              </a:rPr>
              <a:t>　唯一事实来源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6" y="3712463"/>
            <a:ext cx="316382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api-spec.md 统一消费；未就绪接口用 mock，不阻塞流程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一句话：把产品需求 + 设计稿（HTML / 截图）交给流水线，产出三端生产代码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07 / 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一条流水线，三条产线：流程架构总览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前 4 站三端共用，后 4 站按平台分道 —— 每站都有产出物，关键站点设门禁</a:t>
            </a:r>
          </a:p>
        </p:txBody>
      </p:sp>
      <p:sp>
        <p:nvSpPr>
          <p:cNvPr id="20" name="Pentagon 19"/>
          <p:cNvSpPr/>
          <p:nvPr/>
        </p:nvSpPr>
        <p:spPr>
          <a:xfrm>
            <a:off x="576072" y="1188720"/>
            <a:ext cx="1481328" cy="621792"/>
          </a:xfrm>
          <a:prstGeom prst="homePlate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入口路由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865376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state 需求条目</a:t>
            </a:r>
          </a:p>
        </p:txBody>
      </p:sp>
      <p:sp>
        <p:nvSpPr>
          <p:cNvPr id="22" name="Chevron 21"/>
          <p:cNvSpPr/>
          <p:nvPr/>
        </p:nvSpPr>
        <p:spPr>
          <a:xfrm>
            <a:off x="1938528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材料收集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1865376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材料清单</a:t>
            </a:r>
          </a:p>
        </p:txBody>
      </p:sp>
      <p:sp>
        <p:nvSpPr>
          <p:cNvPr id="24" name="Chevron 23"/>
          <p:cNvSpPr/>
          <p:nvPr/>
        </p:nvSpPr>
        <p:spPr>
          <a:xfrm>
            <a:off x="3300984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功能点规格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2424" y="1865376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features.md</a:t>
            </a:r>
          </a:p>
        </p:txBody>
      </p:sp>
      <p:sp>
        <p:nvSpPr>
          <p:cNvPr id="26" name="Chevron 25"/>
          <p:cNvSpPr/>
          <p:nvPr/>
        </p:nvSpPr>
        <p:spPr>
          <a:xfrm>
            <a:off x="4663440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API 规格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1865376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api-spec.md</a:t>
            </a:r>
          </a:p>
        </p:txBody>
      </p:sp>
      <p:sp>
        <p:nvSpPr>
          <p:cNvPr id="28" name="Chevron 27"/>
          <p:cNvSpPr/>
          <p:nvPr/>
        </p:nvSpPr>
        <p:spPr>
          <a:xfrm>
            <a:off x="6025896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5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UI 审计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17336" y="1865376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ui-audit.md</a:t>
            </a:r>
          </a:p>
        </p:txBody>
      </p:sp>
      <p:sp>
        <p:nvSpPr>
          <p:cNvPr id="30" name="Chevron 29"/>
          <p:cNvSpPr/>
          <p:nvPr/>
        </p:nvSpPr>
        <p:spPr>
          <a:xfrm>
            <a:off x="7388352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5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技术设计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1865376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tech-design.md</a:t>
            </a:r>
          </a:p>
        </p:txBody>
      </p:sp>
      <p:sp>
        <p:nvSpPr>
          <p:cNvPr id="32" name="Chevron 31"/>
          <p:cNvSpPr/>
          <p:nvPr/>
        </p:nvSpPr>
        <p:spPr>
          <a:xfrm>
            <a:off x="8750808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5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代码生成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1865376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execution.md+代码</a:t>
            </a:r>
          </a:p>
        </p:txBody>
      </p:sp>
      <p:sp>
        <p:nvSpPr>
          <p:cNvPr id="34" name="Chevron 33"/>
          <p:cNvSpPr/>
          <p:nvPr/>
        </p:nvSpPr>
        <p:spPr>
          <a:xfrm>
            <a:off x="10113264" y="1188720"/>
            <a:ext cx="1481328" cy="621792"/>
          </a:xfrm>
          <a:prstGeom prst="chevron">
            <a:avLst>
              <a:gd name="adj" fmla="val 28000"/>
            </a:avLst>
          </a:prstGeom>
          <a:solidFill>
            <a:srgbClr val="FFFFFF"/>
          </a:solidFill>
          <a:ln w="1778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5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自测验证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4704" y="1865376"/>
            <a:ext cx="157276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交付总结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237744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—— 通用阶段 · 三端共用 ——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2377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EE822F"/>
                </a:solidFill>
                <a:latin typeface="Microsoft YaHei"/>
                <a:ea typeface="Microsoft YaHei"/>
                <a:cs typeface="Microsoft YaHei"/>
              </a:rPr>
              <a:t>—— 平台阶段 · 按 inputs.platform 路由 ——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" y="2697480"/>
            <a:ext cx="5394960" cy="566928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54864" tIns="18288" bIns="18288" wrap="square"/>
          <a:lstStyle/>
          <a:p>
            <a:pPr algn="l"/>
            <a:r>
              <a:rPr sz="12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√ 确认门禁 ×6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　每站产出文档，你确认后才推进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2697480"/>
            <a:ext cx="2743200" cy="566928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54864" tIns="18288" bIns="18288" wrap="square"/>
          <a:lstStyle/>
          <a:p>
            <a:pPr algn="l"/>
            <a:r>
              <a:rPr sz="1200" b="1" i="0">
                <a:solidFill>
                  <a:srgbClr val="EE822F"/>
                </a:solidFill>
                <a:latin typeface="Microsoft YaHei"/>
                <a:ea typeface="Microsoft YaHei"/>
                <a:cs typeface="Microsoft YaHei"/>
              </a:rPr>
              <a:t>⚙ 出口门禁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　13 项检查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06840" y="2697480"/>
            <a:ext cx="2606040" cy="566928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54864" tIns="18288" bIns="18288" wrap="square"/>
          <a:lstStyle/>
          <a:p>
            <a:pPr algn="l"/>
            <a:r>
              <a:rPr sz="1200" b="1" i="0">
                <a:solidFill>
                  <a:srgbClr val="5B8F2E"/>
                </a:solidFill>
                <a:latin typeface="Microsoft YaHei"/>
                <a:ea typeface="Microsoft YaHei"/>
                <a:cs typeface="Microsoft YaHei"/>
              </a:rPr>
              <a:t>✓ 终检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　通过才交付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3410712"/>
            <a:ext cx="13716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平台</a:t>
            </a:r>
          </a:p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路由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铁律 8</a:t>
            </a:r>
          </a:p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平台约束隔离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28800" y="3520440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54864" tIns="18288" bIns="18288" wrap="square"/>
          <a:lstStyle/>
          <a:p>
            <a:pPr algn="l"/>
            <a:r>
              <a:rPr sz="125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RN 流水线　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audit → design → build → verify　｜　只引用 reference/rn 规则</a:t>
            </a:r>
          </a:p>
        </p:txBody>
      </p:sp>
      <p:sp>
        <p:nvSpPr>
          <p:cNvPr id="43" name="Oval 42"/>
          <p:cNvSpPr/>
          <p:nvPr/>
        </p:nvSpPr>
        <p:spPr>
          <a:xfrm>
            <a:off x="1956816" y="3648456"/>
            <a:ext cx="219456" cy="21945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828800" y="4123944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54864" tIns="18288" bIns="18288" wrap="square"/>
          <a:lstStyle/>
          <a:p>
            <a:pPr algn="l"/>
            <a:r>
              <a:rPr sz="1250" b="1" i="0">
                <a:solidFill>
                  <a:srgbClr val="EE822F"/>
                </a:solidFill>
                <a:latin typeface="Microsoft YaHei"/>
                <a:ea typeface="Microsoft YaHei"/>
                <a:cs typeface="Microsoft YaHei"/>
              </a:rPr>
              <a:t>H5 流水线　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audit → design → build → verify　｜　只引用 reference/h5 规则</a:t>
            </a:r>
          </a:p>
        </p:txBody>
      </p:sp>
      <p:sp>
        <p:nvSpPr>
          <p:cNvPr id="45" name="Oval 44"/>
          <p:cNvSpPr/>
          <p:nvPr/>
        </p:nvSpPr>
        <p:spPr>
          <a:xfrm>
            <a:off x="1956816" y="4251959"/>
            <a:ext cx="219456" cy="219456"/>
          </a:xfrm>
          <a:prstGeom prst="ellipse">
            <a:avLst/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828800" y="4727448"/>
            <a:ext cx="97840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0C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rIns="54864" tIns="18288" bIns="18288" wrap="square"/>
          <a:lstStyle/>
          <a:p>
            <a:pPr algn="l"/>
            <a:r>
              <a:rPr sz="1250" b="1" i="0">
                <a:solidFill>
                  <a:srgbClr val="30C0B4"/>
                </a:solidFill>
                <a:latin typeface="Microsoft YaHei"/>
                <a:ea typeface="Microsoft YaHei"/>
                <a:cs typeface="Microsoft YaHei"/>
              </a:rPr>
              <a:t>PC 流水线　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audit → design → build → verify　｜　只引用 reference/pc 规则</a:t>
            </a:r>
          </a:p>
        </p:txBody>
      </p:sp>
      <p:sp>
        <p:nvSpPr>
          <p:cNvPr id="47" name="Oval 46"/>
          <p:cNvSpPr/>
          <p:nvPr/>
        </p:nvSpPr>
        <p:spPr>
          <a:xfrm>
            <a:off x="1956816" y="4855464"/>
            <a:ext cx="219456" cy="219456"/>
          </a:xfrm>
          <a:prstGeom prst="ellipse">
            <a:avLst/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 AI 自由发挥，是 AI 在流水线上干活 —— 每站有说明书，关键站点有闸门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08 / 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Skill 的骨架：总纲 + 说明书 + 知识库 + 模板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AI 不是临场发挥 —— 每一步都有说明书，每一个取值都有参考依据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5623560" cy="4279392"/>
          </a:xfrm>
          <a:prstGeom prst="roundRect">
            <a:avLst>
              <a:gd name="adj" fmla="val 45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tIns="164592" wrap="square"/>
          <a:lstStyle/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design-to-code-max/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SKILL.md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总纲：8 条铁律 + 路由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subskills/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分阶段执行说明书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│   ├── common/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通用 4 阶段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│   └── rn/ h5/ pc/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平台各 4 阶段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reference/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知识库：规范/token/gotchas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├── templates/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文档模板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└── scripts/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 门禁校验 + 指标收集</a:t>
            </a:r>
          </a:p>
          <a:p>
            <a:pPr algn="l">
              <a:lnSpc>
                <a:spcPct val="132000"/>
              </a:lnSpc>
            </a:pPr>
            <a:r>
              <a:rPr sz="6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200" b="1" i="0">
                <a:solidFill>
                  <a:srgbClr val="FFD666"/>
                </a:solidFill>
                <a:latin typeface="Consolas"/>
                <a:ea typeface="Consolas"/>
                <a:cs typeface="Consolas"/>
              </a:rPr>
              <a:t>运行时产出 → 你的项目/.ai-wiki/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.dtc-state.json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状态机（多需求共存）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design-deviation-db.json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偏差库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【需求名】/</a:t>
            </a:r>
            <a:r>
              <a:rPr sz="10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  features / api-spec / ui-audit 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115568"/>
            <a:ext cx="521208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128016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渐进式披露：选什么平台，加载什么规则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1719072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 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1719072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加载 </a:t>
            </a:r>
            <a:r>
              <a:rPr sz="110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common + 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01968" y="2148839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 H5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2148839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加载 </a:t>
            </a:r>
            <a:r>
              <a:rPr sz="1100" b="1" i="0">
                <a:solidFill>
                  <a:srgbClr val="EE822F"/>
                </a:solidFill>
                <a:latin typeface="Consolas"/>
                <a:ea typeface="Consolas"/>
                <a:cs typeface="Consolas"/>
              </a:rPr>
              <a:t>common + h5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01968" y="2578607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 PC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2578607"/>
            <a:ext cx="37490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加载 </a:t>
            </a:r>
            <a:r>
              <a:rPr sz="1100" b="1" i="0">
                <a:solidFill>
                  <a:srgbClr val="30C0B4"/>
                </a:solidFill>
                <a:latin typeface="Consolas"/>
                <a:ea typeface="Consolas"/>
                <a:cs typeface="Consolas"/>
              </a:rPr>
              <a:t>common + pc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310128"/>
            <a:ext cx="5212080" cy="208483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34564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8 条铁律（精选）</a:t>
            </a:r>
            <a:r>
              <a:rPr sz="9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　写在 SKILL.md，AI 启动先读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385876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① 功能完整性优先：不为样式合规删任何功能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22452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② Token 唯一来源：禁止硬编码 hex / magic number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59028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③ 阶段未 checkpoint 禁止推进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49560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⑧ 平台约束隔离：禁止跨平台引用规则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说明书（subskills）+ 参考依据（reference）+ 模板（templates）—— 三件套管住每一次生成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09 / 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03  </a:t>
              </a:r>
              <a:endParaRPr lang="en-US" altLang="zh-CN" sz="9600" b="1">
                <a:solidFill>
                  <a:srgbClr val="0180FF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机制 · 四大武器</a:t>
              </a:r>
              <a:r>
                <a:rPr lang="zh-CN" altLang="en-US" sz="58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endParaRPr lang="en-US" altLang="zh-CN" sz="5800" b="1">
                <a:latin typeface="Microsoft YaHei" panose="020B0503020204020204" charset="-122"/>
                <a:ea typeface="Microsoft YaHei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Microsoft YaHei" panose="020B0503020204020204" charset="-122"/>
                <a:ea typeface="Microsoft YaHei" panose="020B0503020204020204" charset="-122"/>
              </a:rPr>
              <a:t>PART 03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HTML 解析引擎 / 三道门禁 / 状态机 / 偏差库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10 / 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武器 ①  HTML 结构化解析引擎 —— UI 高还原的秘密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把设计稿从「AI 眼里的一张图」变成「可消费的结构化数据」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按页面拆分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DOM 边界切分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15184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811779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逐元素解析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标签/样式/文本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850892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47488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三要素归类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layout/字体/间距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86600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83196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Step 4</a:t>
            </a: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Token 映射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按平台查映射表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322308" y="1444752"/>
            <a:ext cx="182880" cy="25603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18904" y="1115568"/>
            <a:ext cx="2020824" cy="914400"/>
          </a:xfrm>
          <a:prstGeom prst="roundRect">
            <a:avLst>
              <a:gd name="adj" fmla="val 55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05000"/>
              </a:lnSpc>
            </a:pPr>
            <a:r>
              <a:rPr sz="900" b="1" i="0">
                <a:solidFill>
                  <a:srgbClr val="BFE0FF"/>
                </a:solidFill>
                <a:latin typeface="Microsoft YaHei"/>
                <a:ea typeface="Microsoft YaHei"/>
                <a:cs typeface="Microsoft YaHei"/>
              </a:rPr>
              <a:t>Step 5</a:t>
            </a:r>
          </a:p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 JSON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BFE0FF"/>
                </a:solidFill>
                <a:latin typeface="Microsoft YaHei"/>
                <a:ea typeface="Microsoft YaHei"/>
                <a:cs typeface="Microsoft YaHei"/>
              </a:rPr>
              <a:t>parsed-styles/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" y="2286000"/>
            <a:ext cx="5394960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43230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每个元素提取「三要素」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28986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" y="2852928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Layout 布局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display / flexDirection / padding / gap / justifyContent 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4655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" y="3419856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Typography 字体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fontSize / fontWeight / lineHeight / color / textAlign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03250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3986784"/>
            <a:ext cx="4846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Spacing &amp; Style</a:t>
            </a:r>
          </a:p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8492A6"/>
                </a:solidFill>
                <a:latin typeface="Consolas"/>
                <a:ea typeface="Consolas"/>
                <a:cs typeface="Consolas"/>
              </a:rPr>
              <a:t>borderRadius / borderWidth / backgroundColor / margin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5537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每属性 = 原始值 + token 映射值；无法映射 → unmappedTokens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2286000"/>
            <a:ext cx="5394960" cy="2606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243230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截图扫读：与解析并列的另一条腿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2852928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· HTML 管静态：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只描述静态 DOM 结构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3328416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· 截图管动态：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展开收起 / Tab 切换 / 弹窗 / 状态配色 / 空态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3803904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· 逐张扫读：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每张截图产出 screenshotFindings，条数不符 audit 不过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4279392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· 发现回补：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截图发现新功能点，先回补 features.md 再继续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" y="5074920"/>
            <a:ext cx="11036808" cy="914400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消费链路：</a:t>
            </a:r>
            <a:r>
              <a:rPr sz="1200" b="0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audit 三要素表 → build 读 JSON 写代码 → verify 还原度终检</a:t>
            </a:r>
          </a:p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build 不再裸读 HTML，不靠 AI 记忆猜 padding —— 这次 12px，下次还是 12px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11 / 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武器 ②  三道门禁 —— 不是 AI 说「写好了」就算好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质量不押注在运气上：每一道关都有明确标准，不过不放行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0512" y="137160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阶段确认门禁 ×6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1993392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analyze → 材料 → 功能点 → API → audit →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2587752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checklistPassed + 你确认，双通过才推进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182112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每站产出文档，不满意就打回重做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11396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39996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5836" y="137160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build 出口门禁 ×13 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9996" y="1993392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全部分组完成后自动检查 13 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9996" y="2587752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完成度 / 硬编码扫描 / dependencies 禁用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9996" y="3182112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API 取值 / 偏差库同步 / 字段零遗漏 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9996" y="3776472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任一项不过，禁止进入 verify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9996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46720" y="1143000"/>
            <a:ext cx="3566160" cy="3977639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75320" y="137160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1371600"/>
            <a:ext cx="2286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verify 终检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1993392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功能验证 + 样式合规扫描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587752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API 合规 4 项 + 偏差库同步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3182112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产出交付总结：文件清单 / 耗时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3776472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剩余风险 / 待人工确认项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75320" y="4617720"/>
            <a:ext cx="3108960" cy="82296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76072" y="562356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的「写好了」是概率，门禁的「通过了」是标准 —— 标准统一，人人可验收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12 / 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武器 ③  状态机 —— 可中断、可恢复的「黑匣子」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进度写在 .ai-wiki/.dtc-state.json 里，不靠对话记忆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5394960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261872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中断后再打开……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1627632"/>
            <a:ext cx="4992624" cy="658368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54864" tIns="18288" bIns="18288" wrap="square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54C5E"/>
                </a:solidFill>
                <a:latin typeface="Microsoft YaHei"/>
                <a:ea typeface="Microsoft YaHei"/>
                <a:cs typeface="Microsoft YaHei"/>
              </a:rPr>
              <a:t>× 直接对话：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「刚才我们聊到哪了？上下文发我一下」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395728"/>
            <a:ext cx="4992624" cy="786384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54864" tIns="18288" bIns="18288" wrap="square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8F2E"/>
                </a:solidFill>
                <a:latin typeface="Microsoft YaHei"/>
                <a:ea typeface="Microsoft YaHei"/>
                <a:cs typeface="Microsoft YaHei"/>
              </a:rPr>
              <a:t>√ 用 skill：</a:t>
            </a: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「检测到未完成需求【企业认证】，当前 build 阶段（分组 3/8），是否继续？」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" y="3493008"/>
            <a:ext cx="5394960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621024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state.json 记了什么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6849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currentPhase 当前阶段 / inputs.platform 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1596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completedGroups 已完成分组 / phaseOutputs 各阶段产出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6634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changeLog 变更记录（小改回退 build，大改新需求）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· 多需求共存在一个文件，互不干扰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1115568"/>
            <a:ext cx="5394960" cy="4297680"/>
          </a:xfrm>
          <a:prstGeom prst="roundRect">
            <a:avLst>
              <a:gd name="adj" fmla="val 5500"/>
            </a:avLst>
          </a:prstGeom>
          <a:solidFill>
            <a:srgbClr val="F8FAFE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12801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恢复三机制</a:t>
            </a:r>
          </a:p>
        </p:txBody>
      </p:sp>
      <p:sp>
        <p:nvSpPr>
          <p:cNvPr id="32" name="Oval 31"/>
          <p:cNvSpPr/>
          <p:nvPr/>
        </p:nvSpPr>
        <p:spPr>
          <a:xfrm>
            <a:off x="6419088" y="1719072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2" y="1719072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需求总览，点谁续谁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重启列出全部需求：名称 / 类型 / 阶段 / 完成度，用问题卡片让你选</a:t>
            </a:r>
          </a:p>
        </p:txBody>
      </p:sp>
      <p:sp>
        <p:nvSpPr>
          <p:cNvPr id="34" name="Oval 33"/>
          <p:cNvSpPr/>
          <p:nvPr/>
        </p:nvSpPr>
        <p:spPr>
          <a:xfrm>
            <a:off x="6419088" y="2743200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1152" y="2743200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平台路由恢复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按 inputs.platform 路由回 rn / h5 / pc 对应流水线，禁止跨平台串线</a:t>
            </a:r>
          </a:p>
        </p:txBody>
      </p:sp>
      <p:sp>
        <p:nvSpPr>
          <p:cNvPr id="36" name="Oval 35"/>
          <p:cNvSpPr/>
          <p:nvPr/>
        </p:nvSpPr>
        <p:spPr>
          <a:xfrm>
            <a:off x="6419088" y="3767328"/>
            <a:ext cx="365760" cy="365760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3767328"/>
            <a:ext cx="4572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上下文刷新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只加载当前分组的规格与解析数据，不加载已完成分组的代码 —— 上下文不爆炸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809744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保障：每组完成即更新 state；execution.md 顶部维护「恢复入口」标记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关机、换需求、改需求都不怕 —— 它记得，因为进度写在文件里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13 / 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武器 ④  偏差库 + Gotchas —— 坑，只踩一次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一个人发现，所有人受益；这套 skill 越用越聪明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429768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1261872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偏差库生命周期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169164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54864" tIns="18288" bIns="18288" wrap="square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audit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读取偏差库，匹配已知组件，预标注到 ui-audit.md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1819656"/>
            <a:ext cx="64008" cy="640080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2651760" y="2606040"/>
            <a:ext cx="182880" cy="18288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278892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54864" tIns="18288" bIns="18288" wrap="square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EE822F"/>
                </a:solidFill>
                <a:latin typeface="Microsoft YaHei"/>
                <a:ea typeface="Microsoft YaHei"/>
                <a:cs typeface="Microsoft YaHei"/>
              </a:rPr>
              <a:t>build Step 5.5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新偏差追加入库；命中已知偏差计数 +1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2916936"/>
            <a:ext cx="64008" cy="640080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2651760" y="3703320"/>
            <a:ext cx="182880" cy="182880"/>
          </a:xfrm>
          <a:prstGeom prst="downArrow">
            <a:avLst>
              <a:gd name="adj1" fmla="val 60000"/>
              <a:gd name="adj2" fmla="val 50000"/>
            </a:avLst>
          </a:prstGeom>
          <a:solidFill>
            <a:srgbClr val="B7C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" y="3886200"/>
            <a:ext cx="3895344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54864" tIns="18288" bIns="18288" wrap="square"/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8F2E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验证已修复的偏差，标记 resolved = true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014215"/>
            <a:ext cx="64008" cy="640080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5604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记录：组件 / 缺陷 / 补偿方案 / 严重度 / 影响需求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56632" y="1115568"/>
            <a:ext cx="310896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800" y="12618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Gotchas 五大分类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57800" y="1719072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54864" tIns="18288" bIns="18288" wrap="square"/>
          <a:lstStyle/>
          <a:p>
            <a:pPr algn="l"/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组件库陷阱</a:t>
            </a:r>
            <a:r>
              <a:rPr sz="95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　17 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57800" y="2340864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54864" tIns="18288" bIns="18288" wrap="square"/>
          <a:lstStyle/>
          <a:p>
            <a:pPr algn="l"/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HTML 解析</a:t>
            </a:r>
            <a:r>
              <a:rPr sz="95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　3 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57800" y="2962656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54864" tIns="18288" bIns="18288" wrap="square"/>
          <a:lstStyle/>
          <a:p>
            <a:pPr algn="l"/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RN 平台特性</a:t>
            </a:r>
            <a:r>
              <a:rPr sz="95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　8 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57800" y="3584448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54864" tIns="18288" bIns="18288" wrap="square"/>
          <a:lstStyle/>
          <a:p>
            <a:pPr algn="l"/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API 响应结构</a:t>
            </a:r>
            <a:r>
              <a:rPr sz="95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　1 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57800" y="4206240"/>
            <a:ext cx="2706624" cy="5120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54864" tIns="18288" bIns="18288" wrap="square"/>
          <a:lstStyle/>
          <a:p>
            <a:pPr algn="l"/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构建阶段问题</a:t>
            </a:r>
            <a:r>
              <a:rPr sz="95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　1 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4846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每篇 = 现象 + 根因 + 正确姿势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48472" y="1115568"/>
            <a:ext cx="3264408" cy="4160520"/>
          </a:xfrm>
          <a:prstGeom prst="roundRect">
            <a:avLst>
              <a:gd name="adj" fmla="val 55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126187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真实案例 3 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1719072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Microsoft YaHei"/>
                <a:ea typeface="Microsoft YaHei"/>
                <a:cs typeface="Microsoft YaHei"/>
              </a:rPr>
              <a:t>▸ XlbForm 内边距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Microsoft YaHei"/>
                <a:ea typeface="Microsoft YaHei"/>
                <a:cs typeface="Microsoft YaHei"/>
              </a:rPr>
              <a:t>用 cellTheme 全局设，加到单个 Item 上无效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889504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Microsoft YaHei"/>
                <a:ea typeface="Microsoft YaHei"/>
                <a:cs typeface="Microsoft YaHei"/>
              </a:rPr>
              <a:t>▸ 表单联动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Microsoft YaHei"/>
                <a:ea typeface="Microsoft YaHei"/>
                <a:cs typeface="Microsoft YaHei"/>
              </a:rPr>
              <a:t>禁止 dependencies，用 getFieldValue / useWatch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4059936"/>
            <a:ext cx="29260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D666"/>
                </a:solidFill>
                <a:latin typeface="Microsoft YaHei"/>
                <a:ea typeface="Microsoft YaHei"/>
                <a:cs typeface="Microsoft YaHei"/>
              </a:rPr>
              <a:t>▸ fsmshttp 取值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6E8"/>
                </a:solidFill>
                <a:latin typeface="Microsoft YaHei"/>
                <a:ea typeface="Microsoft YaHei"/>
                <a:cs typeface="Microsoft YaHei"/>
              </a:rPr>
              <a:t>res?.data?.content 就是顶层，别多解一层 .data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" y="5596128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以前：踩坑 → 修好 → 忘掉 → 再踩　　现在：踩坑 → 入库 → 全队免疫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14 / 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04  </a:t>
              </a:r>
              <a:endParaRPr lang="en-US" altLang="zh-CN" sz="9600" b="1">
                <a:solidFill>
                  <a:srgbClr val="0180FF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实战 · 怎么用</a:t>
              </a:r>
              <a:r>
                <a:rPr lang="zh-CN" altLang="en-US" sz="58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endParaRPr lang="en-US" altLang="zh-CN" sz="5800" b="1">
                <a:latin typeface="Microsoft YaHei" panose="020B0503020204020204" charset="-122"/>
                <a:ea typeface="Microsoft YaHei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Microsoft YaHei" panose="020B0503020204020204" charset="-122"/>
                <a:ea typeface="Microsoft YaHei" panose="020B0503020204020204" charset="-122"/>
              </a:rPr>
              <a:t>PART 04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三步上手 · 流程流转 · 驾驭姿势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15 / 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三步上手：5 分钟装好，全端通用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XLB 前端开发插件官网 · Skills 市场一键安装，装完重启 Qoder 即用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181051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打开 Skills 市场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tIns="128016" wrap="square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进入 XLB 前端开发插件官网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点击顶部导航「Skills 市场」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# 已装插件也可在插件面板进入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1396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30852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0852" y="181051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复制命令一键安装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30852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tIns="128016" wrap="square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搜索 design-to-code-max → 详情页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复制 curl 命令，终端执行（需 Node 18+）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# 自动解压到 ~/.qoder/skills/</a:t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重启 Qoder 即生效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无 Node 可「下载 SKILL 文件」手动安装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143000"/>
            <a:ext cx="356616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66176" y="1353312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1810512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用起来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66176" y="2468880"/>
            <a:ext cx="3127248" cy="2514600"/>
          </a:xfrm>
          <a:prstGeom prst="roundRect">
            <a:avLst>
              <a:gd name="adj" fmla="val 6000"/>
            </a:avLst>
          </a:prstGeom>
          <a:solidFill>
            <a:srgbClr val="15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tIns="128016" wrap="square"/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EC3FF"/>
                </a:solidFill>
                <a:latin typeface="Consolas"/>
                <a:ea typeface="Consolas"/>
                <a:cs typeface="Consolas"/>
              </a:rPr>
              <a:t>/design-to-code-max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做一下企业认证页面的重构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8DA2BE"/>
                </a:solidFill>
                <a:latin typeface="Consolas"/>
                <a:ea typeface="Consolas"/>
                <a:cs typeface="Consolas"/>
              </a:rPr>
              <a:t>然后跟着 AI 的引导走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" y="5440680"/>
            <a:ext cx="11036808" cy="658368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54864" tIns="18288" bIns="18288" wrap="square"/>
          <a:lstStyle/>
          <a:p>
            <a:pPr algn="l"/>
            <a:r>
              <a:rPr sz="12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更新：</a:t>
            </a:r>
            <a:r>
              <a:rPr sz="11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市场发布新版本后，重新执行一次 curl 一键安装命令即覆盖到最新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16 / 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一次需求之旅：8 站流转，你只做 3 件事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回答问题 → 看文档确认 → 提修改意见；其余的，流水线来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15568"/>
            <a:ext cx="11036808" cy="384048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1115568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2072" y="111556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产出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1115568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你要做的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" y="1572768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15727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1 入口路由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2072" y="15727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问题卡片 ×3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62472" y="157276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回答：需求名称 / 平台（RN·H5·PC）/ 类型（增量·重构）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71632" y="1673352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8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需你确认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" y="2071116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" y="207111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2 材料收集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62072" y="207111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材料清单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62472" y="207111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提供设计稿 HTML + 截图；重构需求给出被重构源码路径（必填）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71632" y="2171700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8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需你确认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" y="2569464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256946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3 功能点规格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62072" y="256946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features.md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62472" y="256946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审功能点拆分与联动关系，确认或提修改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71632" y="2670048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8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需你确认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72" y="3067812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30678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4 API 规格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62072" y="30678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api-spec.md + mock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62472" y="306781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核对入参 / 出参 / 取值路径；未就绪接口确认用 mock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771632" y="3168396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8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需你确认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" y="3566160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8952" y="35661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5 UI 审计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62072" y="35661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ui-audit.md + 解析 JSON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62472" y="3566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审三要素表 + 逐张截图发现，补充设计细节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71632" y="3666744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8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需你确认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6072" y="4064508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406450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6 技术设计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62072" y="406450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tech-design.md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62472" y="40645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审组件架构、数据流、路由设计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771632" y="4165092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018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80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需你确认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72" y="4562856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" y="4562856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7 代码生成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62072" y="456285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execution.md + 代码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62472" y="456285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逐分组人工审查（分组门禁），过了进下一组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771632" y="4663440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800" b="1" i="0">
                <a:solidFill>
                  <a:srgbClr val="EE822F"/>
                </a:solidFill>
                <a:latin typeface="Microsoft YaHei"/>
                <a:ea typeface="Microsoft YaHei"/>
                <a:cs typeface="Microsoft YaHei"/>
              </a:rPr>
              <a:t>分组审查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76072" y="5061204"/>
            <a:ext cx="11036808" cy="457200"/>
          </a:xfrm>
          <a:prstGeom prst="roundRect">
            <a:avLst>
              <a:gd name="adj" fmla="val 5000"/>
            </a:avLst>
          </a:prstGeom>
          <a:solidFill>
            <a:srgbClr val="F7FAFE"/>
          </a:solidFill>
          <a:ln w="12700">
            <a:solidFill>
              <a:srgbClr val="E8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8952" y="5061204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8 自测交付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62072" y="506120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180FF"/>
                </a:solidFill>
                <a:latin typeface="Consolas"/>
                <a:ea typeface="Consolas"/>
                <a:cs typeface="Consolas"/>
              </a:rPr>
              <a:t>交付总结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62472" y="506120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验收 + 人工 CR，重点看校验逻辑与边界情况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771632" y="5161788"/>
            <a:ext cx="713232" cy="256032"/>
          </a:xfrm>
          <a:prstGeom prst="roundRect">
            <a:avLst>
              <a:gd name="adj" fmla="val 50000"/>
            </a:avLst>
          </a:prstGeom>
          <a:noFill/>
          <a:ln w="11430">
            <a:solidFill>
              <a:srgbClr val="5B8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800" b="1" i="0">
                <a:solidFill>
                  <a:srgbClr val="5B8F2E"/>
                </a:solidFill>
                <a:latin typeface="Microsoft YaHei"/>
                <a:ea typeface="Microsoft YaHei"/>
                <a:cs typeface="Microsoft YaHei"/>
              </a:rPr>
              <a:t>终检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6072" y="5632704"/>
            <a:ext cx="11036808" cy="530352"/>
          </a:xfrm>
          <a:prstGeom prst="roundRect">
            <a:avLst>
              <a:gd name="adj" fmla="val 5500"/>
            </a:avLst>
          </a:prstGeom>
          <a:solidFill>
            <a:srgbClr val="FDF4EA"/>
          </a:solidFill>
          <a:ln w="12700">
            <a:solidFill>
              <a:srgbClr val="F5D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54864" tIns="18288" bIns="18288" wrap="square"/>
          <a:lstStyle/>
          <a:p>
            <a:pPr algn="l"/>
            <a:r>
              <a:rPr sz="1100" b="1" i="0">
                <a:solidFill>
                  <a:srgbClr val="EE822F"/>
                </a:solidFill>
                <a:latin typeface="Microsoft YaHei"/>
                <a:ea typeface="Microsoft YaHei"/>
                <a:cs typeface="Microsoft YaHei"/>
              </a:rPr>
              <a:t>所有提问都是结构化问题卡片（AskUserQuestion），一次一问不轰炸；</a:t>
            </a:r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你的确认 = 门禁放行，你的不满意 = 打回重做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17 / 22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驾驭 Skill 的正确姿势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它是流水线，你是质检员 + 产品经理 —— 方向你把关，脏活它全包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5394960" cy="3886200"/>
          </a:xfrm>
          <a:prstGeom prst="roundRect">
            <a:avLst>
              <a:gd name="adj" fmla="val 5500"/>
            </a:avLst>
          </a:prstGeom>
          <a:solidFill>
            <a:srgbClr val="F0F9EB"/>
          </a:solidFill>
          <a:ln w="12700">
            <a:solidFill>
              <a:srgbClr val="D2E9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" y="1353312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√ 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192024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门禁处认真看文档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确认 = 放行，不满意 = 打回，改到满意再继续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269748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中断了别慌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直接重启，state.json 从断点续接，不用从头聊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47472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改需求走 changeLog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小改回退 build 追加记录，大改走新需求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2519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发现新坑随手沉淀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补一篇 gotcha，下次全需求自动引用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143000"/>
            <a:ext cx="5394960" cy="3886200"/>
          </a:xfrm>
          <a:prstGeom prst="roundRect">
            <a:avLst>
              <a:gd name="adj" fmla="val 5500"/>
            </a:avLst>
          </a:prstGeom>
          <a:solidFill>
            <a:srgbClr val="FDF1F2"/>
          </a:solidFill>
          <a:ln w="12700">
            <a:solidFill>
              <a:srgbClr val="F6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46520" y="135331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54C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 DON'T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92024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别催进度跳过确认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门禁是对你负责，不是形式主义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69748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别让 AI 绕过 api-spec 猜接口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接口问题一律回到 api-spec.md 对齐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47472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别跨平台混用规则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H5 流水线里不该出现 theme token（铁律 8）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51960"/>
            <a:ext cx="49377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别以样式合规为由删功能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铁律 1：功能完整性永远优先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" y="5257800"/>
            <a:ext cx="11036808" cy="868680"/>
          </a:xfrm>
          <a:prstGeom prst="roundRect">
            <a:avLst>
              <a:gd name="adj" fmla="val 5500"/>
            </a:avLst>
          </a:prstGeom>
          <a:solidFill>
            <a:srgbClr val="EFF6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54864" tIns="18288" bIns="18288" wrap="square"/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0180FF"/>
                </a:solidFill>
                <a:latin typeface="Microsoft YaHei"/>
                <a:ea typeface="Microsoft YaHei"/>
                <a:cs typeface="Microsoft YaHei"/>
              </a:rPr>
              <a:t>遇到问题先查两处：</a:t>
            </a:r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样式不还原 → audit 三要素表是否填全 / 偏差库是否未收录；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API 取值错 → 补一条 gotchas/api-patterns，下次永不再犯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18 / 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2034223" y="2425065"/>
            <a:ext cx="8123555" cy="1568450"/>
            <a:chOff x="3529" y="3819"/>
            <a:chExt cx="12793" cy="2470"/>
          </a:xfrm>
        </p:grpSpPr>
        <p:sp>
          <p:nvSpPr>
            <p:cNvPr id="17" name="文本框 16"/>
            <p:cNvSpPr txBox="1"/>
            <p:nvPr/>
          </p:nvSpPr>
          <p:spPr>
            <a:xfrm>
              <a:off x="3529" y="3819"/>
              <a:ext cx="2989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9600" b="1">
                  <a:solidFill>
                    <a:srgbClr val="0180FF"/>
                  </a:solidFill>
                  <a:latin typeface="Microsoft YaHei" panose="020B0503020204020204" charset="-122"/>
                  <a:ea typeface="Microsoft YaHei" panose="020B0503020204020204" charset="-122"/>
                </a:rPr>
                <a:t>05  </a:t>
              </a:r>
              <a:endParaRPr lang="en-US" altLang="zh-CN" sz="9600" b="1">
                <a:solidFill>
                  <a:srgbClr val="0180FF"/>
                </a:solidFill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20" y="4035"/>
              <a:ext cx="9802" cy="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58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>共建 · 团队玩法</a:t>
              </a:r>
              <a:r>
                <a:rPr lang="zh-CN" altLang="en-US" sz="5800" b="1">
                  <a:latin typeface="Microsoft YaHei" panose="020B0503020204020204" charset="-122"/>
                  <a:ea typeface="Microsoft YaHei" panose="020B0503020204020204" charset="-122"/>
                  <a:sym typeface="+mn-ea"/>
                </a:rPr>
                <a:t/>
              </a:r>
              <a:endParaRPr lang="en-US" altLang="zh-CN" sz="5800" b="1">
                <a:latin typeface="Microsoft YaHei" panose="020B0503020204020204" charset="-122"/>
                <a:ea typeface="Microsoft YaHei" panose="020B0503020204020204" charset="-122"/>
                <a:sym typeface="+mn-ea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 flipV="1">
              <a:off x="6696" y="5721"/>
              <a:ext cx="9354" cy="34"/>
            </a:xfrm>
            <a:prstGeom prst="rect">
              <a:avLst/>
            </a:prstGeom>
            <a:solidFill>
              <a:srgbClr val="66B6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0" y="4900930"/>
            <a:ext cx="848741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0" b="1">
                <a:gradFill>
                  <a:gsLst>
                    <a:gs pos="0">
                      <a:srgbClr val="0180FF">
                        <a:alpha val="10000"/>
                      </a:srgbClr>
                    </a:gs>
                    <a:gs pos="100000">
                      <a:srgbClr val="0180FF">
                        <a:alpha val="0"/>
                      </a:srgbClr>
                    </a:gs>
                  </a:gsLst>
                  <a:lin ang="5400000" scaled="0"/>
                </a:gradFill>
                <a:latin typeface="Microsoft YaHei" panose="020B0503020204020204" charset="-122"/>
                <a:ea typeface="Microsoft YaHei" panose="020B0503020204020204" charset="-122"/>
              </a:rPr>
              <a:t>PART 05</a:t>
            </a:r>
            <a:endParaRPr lang="en-US" altLang="zh-CN" sz="14000" b="1">
              <a:gradFill>
                <a:gsLst>
                  <a:gs pos="0">
                    <a:srgbClr val="0180FF">
                      <a:alpha val="10000"/>
                    </a:srgbClr>
                  </a:gs>
                  <a:gs pos="100000">
                    <a:srgbClr val="0180FF">
                      <a:alpha val="0"/>
                    </a:srgbClr>
                  </a:gs>
                </a:gsLst>
                <a:lin ang="5400000" scaled="0"/>
              </a:gra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084831" y="404164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仓库管理 · 偏差库共享 · 入门建议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19 / 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团队协作：一个人的踩坑，全队的资产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skill 市场统一分发，经验持续沉淀，越用越强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88720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6072" y="1371600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13898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市场统一分发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" y="1865376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所有 skill 上架 XLB 插件 Skills 市场，复制 curl 一键安装；更新重跑一次即最新，不用逐个拷贝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188720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1371600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138988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偏差库共享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1865376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design-deviation-db.json 记录全部已知组件差异；建议定期同步到仓库或共享目录，一人发现全队受益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" y="3310128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76072" y="3493008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30C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" y="351129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gotchas 持续补充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" y="3986784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遇到新坑就加一篇 markdown 提交仓库，后续所有需求在 build / verify 阶段自动引用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310128"/>
            <a:ext cx="5394960" cy="19385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3493008"/>
            <a:ext cx="64008" cy="1572768"/>
          </a:xfrm>
          <a:prstGeom prst="roundRect">
            <a:avLst>
              <a:gd name="adj" fmla="val 50000"/>
            </a:avLst>
          </a:prstGeom>
          <a:solidFill>
            <a:srgbClr val="5B8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351129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AI 生成 + 人工 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3986784"/>
            <a:ext cx="49377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AI 写代码，人做 Code Review；重点看校验逻辑与边界情况，效率与质量兼得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目标：让「如何写出好代码」的知识，沉淀在仓库里，而不是只存在某个人的脑子里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20 / 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573405" y="191135"/>
            <a:ext cx="949007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>入门建议：今天就跑通第一个需求</a:t>
            </a:r>
            <a:r>
              <a:rPr lang="zh-CN" altLang="en-US" sz="2500" b="1">
                <a:latin typeface="Microsoft YaHei" panose="020B0503020204020204" charset="-122"/>
                <a:ea typeface="Microsoft YaHei" panose="020B0503020204020204" charset="-122"/>
                <a:sym typeface="+mn-ea"/>
              </a:rPr>
              <a:t/>
            </a:r>
            <a:endParaRPr lang="zh-CN" altLang="en-US" sz="2500" b="1">
              <a:solidFill>
                <a:schemeClr val="tx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69900" y="291465"/>
            <a:ext cx="90805" cy="288000"/>
          </a:xfrm>
          <a:prstGeom prst="rect">
            <a:avLst/>
          </a:prstGeom>
          <a:solidFill>
            <a:srgbClr val="018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85216" y="713232"/>
            <a:ext cx="10607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492A6"/>
                </a:solidFill>
                <a:latin typeface="Microsoft YaHei"/>
                <a:ea typeface="Microsoft YaHei"/>
                <a:cs typeface="Microsoft YaHei"/>
              </a:rPr>
              <a:t>从一个真实的小需求开始，完整走一遍流水线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" y="1143000"/>
            <a:ext cx="594360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9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12984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五条入门建议</a:t>
            </a:r>
          </a:p>
        </p:txBody>
      </p:sp>
      <p:sp>
        <p:nvSpPr>
          <p:cNvPr id="22" name="Oval 21"/>
          <p:cNvSpPr/>
          <p:nvPr/>
        </p:nvSpPr>
        <p:spPr>
          <a:xfrm>
            <a:off x="804672" y="1773936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1773936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第一次用：</a:t>
            </a:r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从入口到交付完整跟一个需求，感受每个阶段的产出与门禁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" y="2432303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2432303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中断了别慌：</a:t>
            </a:r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state.json 记得进度，重启直接续接</a:t>
            </a:r>
          </a:p>
        </p:txBody>
      </p:sp>
      <p:sp>
        <p:nvSpPr>
          <p:cNvPr id="26" name="Oval 25"/>
          <p:cNvSpPr/>
          <p:nvPr/>
        </p:nvSpPr>
        <p:spPr>
          <a:xfrm>
            <a:off x="804672" y="3090671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" y="3090671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样式不还原：</a:t>
            </a:r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大概率 audit 三要素表没填全，或偏差库还没收录这个问题</a:t>
            </a:r>
          </a:p>
        </p:txBody>
      </p:sp>
      <p:sp>
        <p:nvSpPr>
          <p:cNvPr id="28" name="Oval 27"/>
          <p:cNvSpPr/>
          <p:nvPr/>
        </p:nvSpPr>
        <p:spPr>
          <a:xfrm>
            <a:off x="804672" y="3749039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3749039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写错 API 取值：</a:t>
            </a:r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加到 gotchas/api-patterns/ 下，下次就不会再错</a:t>
            </a:r>
          </a:p>
        </p:txBody>
      </p:sp>
      <p:sp>
        <p:nvSpPr>
          <p:cNvPr id="30" name="Oval 29"/>
          <p:cNvSpPr/>
          <p:nvPr/>
        </p:nvSpPr>
        <p:spPr>
          <a:xfrm>
            <a:off x="804672" y="4407407"/>
            <a:ext cx="310896" cy="310896"/>
          </a:xfrm>
          <a:prstGeom prst="ellipse">
            <a:avLst/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3584" y="4407407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装完看不到：</a:t>
            </a:r>
            <a:r>
              <a:rPr sz="1100" b="0" i="0">
                <a:solidFill>
                  <a:srgbClr val="3D4852"/>
                </a:solidFill>
                <a:latin typeface="Microsoft YaHei"/>
                <a:ea typeface="Microsoft YaHei"/>
                <a:cs typeface="Microsoft YaHei"/>
              </a:rPr>
              <a:t>确认 ~/.qoder/skills/ 下目录内含 SKILL.md，再重启 Qoder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1143000"/>
            <a:ext cx="4892040" cy="3977639"/>
          </a:xfrm>
          <a:prstGeom prst="roundRect">
            <a:avLst>
              <a:gd name="adj" fmla="val 55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1417320"/>
            <a:ext cx="4389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「不是让你学怎么用 AI ——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是让 AI 按一套标准流程干活，</a:t>
            </a:r>
          </a:p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别每次都得从头教它。」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95160" y="3063240"/>
            <a:ext cx="685800" cy="45720"/>
          </a:xfrm>
          <a:prstGeom prst="roundRect">
            <a:avLst>
              <a:gd name="adj" fmla="val 50000"/>
            </a:avLst>
          </a:prstGeom>
          <a:solidFill>
            <a:srgbClr val="018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324612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7EC3FF"/>
                </a:solidFill>
                <a:latin typeface="Microsoft YaHei"/>
                <a:ea typeface="Microsoft YaHei"/>
                <a:cs typeface="Microsoft YaHei"/>
              </a:rPr>
              <a:t>期待：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D6E8"/>
                </a:solidFill>
                <a:latin typeface="Microsoft YaHei"/>
                <a:ea typeface="Microsoft YaHei"/>
                <a:cs typeface="Microsoft YaHei"/>
              </a:rPr>
              <a:t>每个需求都快一点、稳一点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C9D6E8"/>
                </a:solidFill>
                <a:latin typeface="Microsoft YaHei"/>
                <a:ea typeface="Microsoft YaHei"/>
                <a:cs typeface="Microsoft YaHei"/>
              </a:rPr>
              <a:t>团队的坑越来越少，skill 越来越聪明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6072" y="5577840"/>
            <a:ext cx="11036808" cy="566928"/>
          </a:xfrm>
          <a:prstGeom prst="roundRect">
            <a:avLst>
              <a:gd name="adj" fmla="val 14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现在就动手：Skills 市场搜 design-to-code-max → 一键安装 → 跑通你的第一个真实需求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647395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21 / 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7C3D0"/>
                </a:solidFill>
                <a:latin typeface="Microsoft YaHei"/>
                <a:ea typeface="Microsoft YaHei"/>
                <a:cs typeface="Microsoft YaHei"/>
              </a:rPr>
              <a:t>design-to-code-max · 数字化中心前端分享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WPS 演示</Application>
  <PresentationFormat>宽屏</PresentationFormat>
  <Paragraphs>47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Microsoft YaHei</vt:lpstr>
      <vt:lpstr>Calibri</vt:lpstr>
      <vt:lpstr>Helvetica Neue</vt:lpstr>
      <vt:lpstr>微软雅黑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唐志翔</cp:lastModifiedBy>
  <cp:revision>78</cp:revision>
  <dcterms:created xsi:type="dcterms:W3CDTF">2026-04-11T07:06:45Z</dcterms:created>
  <dcterms:modified xsi:type="dcterms:W3CDTF">2026-04-11T07:06:45Z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2052-12.1.24709.24709</vt:lpwstr>
  </property>
  <property fmtid="{D5CDD505-2E9C-101B-9397-08002B2CF9AE}" pid="3" name="ICV">
    <vt:lpwstr>6CDB6E1959BDC3939F8C646896418874_41</vt:lpwstr>
  </property>
</Properties>
</file>