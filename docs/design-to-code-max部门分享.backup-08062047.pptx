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3"/>
  </p:handoutMasterIdLst>
  <p:sldIdLst>
    <p:sldId id="256" r:id="rId3"/>
    <p:sldId id="260" r:id="rId5"/>
    <p:sldId id="261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79" r:id="rId29"/>
    <p:sldId id="280" r:id="rId30"/>
    <p:sldId id="281" r:id="rId31"/>
    <p:sldId id="263" r:id="rId3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38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0FF"/>
    <a:srgbClr val="66B6FF"/>
    <a:srgbClr val="205EFF"/>
    <a:srgbClr val="B2B2B2"/>
    <a:srgbClr val="202020"/>
    <a:srgbClr val="323232"/>
    <a:srgbClr val="CC3300"/>
    <a:srgbClr val="CC0000"/>
    <a:srgbClr val="FF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77"/>
        <p:guide pos="38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77240" y="2041525"/>
            <a:ext cx="874522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让 AI 按「流水线」干活</a:t>
            </a:r>
            <a:endParaRPr lang="zh-CN" altLang="en-US" sz="5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5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75665" y="4089400"/>
            <a:ext cx="10151745" cy="553085"/>
            <a:chOff x="1329" y="6087"/>
            <a:chExt cx="15987" cy="871"/>
          </a:xfrm>
        </p:grpSpPr>
        <p:sp>
          <p:nvSpPr>
            <p:cNvPr id="7" name="矩形 6"/>
            <p:cNvSpPr/>
            <p:nvPr/>
          </p:nvSpPr>
          <p:spPr>
            <a:xfrm>
              <a:off x="1329" y="6087"/>
              <a:ext cx="15987" cy="871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0800000" scaled="1"/>
            </a:gra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426" y="6184"/>
              <a:ext cx="13772" cy="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design-to-code-max · 全链路前端代码生成 Skill</a:t>
              </a:r>
              <a:endParaRPr lang="en-US" altLang="zh-CN" sz="2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65505" y="5683250"/>
            <a:ext cx="4320540" cy="504190"/>
            <a:chOff x="1378" y="7979"/>
            <a:chExt cx="6804" cy="794"/>
          </a:xfrm>
        </p:grpSpPr>
        <p:sp>
          <p:nvSpPr>
            <p:cNvPr id="4" name="圆角矩形 3"/>
            <p:cNvSpPr/>
            <p:nvPr/>
          </p:nvSpPr>
          <p:spPr>
            <a:xfrm>
              <a:off x="1379" y="7979"/>
              <a:ext cx="6803" cy="7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378" y="8099"/>
              <a:ext cx="6804" cy="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700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主讲人：王金保</a:t>
              </a:r>
              <a:r>
                <a:rPr lang="en-US" altLang="zh-CN" sz="1700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en-US" altLang="zh-CN" sz="1700">
                  <a:solidFill>
                    <a:srgbClr val="66B6FF"/>
                  </a:solidFill>
                  <a:latin typeface="微软雅黑" panose="020B0503020204020204" charset="-122"/>
                  <a:ea typeface="微软雅黑" panose="020B0503020204020204" charset="-122"/>
                </a:rPr>
                <a:t>｜</a:t>
              </a:r>
              <a:r>
                <a:rPr lang="zh-CN" altLang="en-US" sz="1700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时间：</a:t>
              </a:r>
              <a:r>
                <a:rPr lang="en-US" altLang="zh-CN" sz="1700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2026.08.07</a:t>
              </a:r>
              <a:r>
                <a:rPr lang="en-US" altLang="zh-CN" sz="1700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endParaRPr lang="en-US" altLang="zh-CN" sz="1700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3863975" y="1632585"/>
            <a:ext cx="4222115" cy="805815"/>
            <a:chOff x="6085" y="2571"/>
            <a:chExt cx="6649" cy="1269"/>
          </a:xfrm>
        </p:grpSpPr>
        <p:sp>
          <p:nvSpPr>
            <p:cNvPr id="17" name="文本框 16"/>
            <p:cNvSpPr txBox="1"/>
            <p:nvPr/>
          </p:nvSpPr>
          <p:spPr>
            <a:xfrm>
              <a:off x="6085" y="2595"/>
              <a:ext cx="1407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01  </a:t>
              </a:r>
              <a:endParaRPr lang="en-US" altLang="zh-CN" sz="44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痛点 · 为什么做</a:t>
              </a:r>
              <a:endParaRPr lang="zh-CN" altLang="en-US" sz="2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AI 自由编码的 5 个老大难</a:t>
              </a:r>
              <a:endParaRPr lang="en-US" altLang="zh-CN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672705" y="1632585"/>
            <a:ext cx="4222115" cy="805815"/>
            <a:chOff x="6085" y="2571"/>
            <a:chExt cx="6649" cy="1269"/>
          </a:xfrm>
        </p:grpSpPr>
        <p:sp>
          <p:nvSpPr>
            <p:cNvPr id="7" name="文本框 6"/>
            <p:cNvSpPr txBox="1"/>
            <p:nvPr/>
          </p:nvSpPr>
          <p:spPr>
            <a:xfrm>
              <a:off x="6085" y="2595"/>
              <a:ext cx="1407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02  </a:t>
              </a:r>
              <a:endParaRPr lang="en-US" altLang="zh-CN" sz="44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全景 · 是什么</a:t>
              </a:r>
              <a:endParaRPr lang="en-US" altLang="zh-CN" sz="2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定位、能力与流水线架构</a:t>
              </a:r>
              <a:endParaRPr lang="zh-CN" altLang="en-US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863975" y="3039745"/>
            <a:ext cx="4222115" cy="805815"/>
            <a:chOff x="6085" y="2571"/>
            <a:chExt cx="6649" cy="1269"/>
          </a:xfrm>
        </p:grpSpPr>
        <p:sp>
          <p:nvSpPr>
            <p:cNvPr id="13" name="文本框 12"/>
            <p:cNvSpPr txBox="1"/>
            <p:nvPr/>
          </p:nvSpPr>
          <p:spPr>
            <a:xfrm>
              <a:off x="6085" y="2595"/>
              <a:ext cx="1405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03  </a:t>
              </a:r>
              <a:endParaRPr lang="en-US" altLang="zh-CN" sz="44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机制 · 四大武器</a:t>
              </a:r>
              <a:endParaRPr lang="en-US" altLang="zh-CN" sz="2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高还原 / 门禁 / 状态机 / 偏差库</a:t>
              </a:r>
              <a:endParaRPr lang="zh-CN" altLang="en-US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7672705" y="3039745"/>
            <a:ext cx="4222115" cy="805815"/>
            <a:chOff x="6085" y="2571"/>
            <a:chExt cx="6649" cy="1269"/>
          </a:xfrm>
        </p:grpSpPr>
        <p:sp>
          <p:nvSpPr>
            <p:cNvPr id="19" name="文本框 18"/>
            <p:cNvSpPr txBox="1"/>
            <p:nvPr/>
          </p:nvSpPr>
          <p:spPr>
            <a:xfrm>
              <a:off x="6085" y="2595"/>
              <a:ext cx="140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04  </a:t>
              </a:r>
              <a:endParaRPr lang="en-US" altLang="zh-CN" sz="44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上手 · 怎么用</a:t>
              </a:r>
              <a:endParaRPr lang="en-US" altLang="zh-CN" sz="2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三步上手与人机协作指南</a:t>
              </a:r>
              <a:endParaRPr lang="zh-CN" altLang="en-US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863975" y="4446905"/>
            <a:ext cx="4222115" cy="805815"/>
            <a:chOff x="6085" y="2571"/>
            <a:chExt cx="6649" cy="1269"/>
          </a:xfrm>
        </p:grpSpPr>
        <p:sp>
          <p:nvSpPr>
            <p:cNvPr id="23" name="文本框 22"/>
            <p:cNvSpPr txBox="1"/>
            <p:nvPr/>
          </p:nvSpPr>
          <p:spPr>
            <a:xfrm>
              <a:off x="6085" y="2595"/>
              <a:ext cx="1406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05  </a:t>
              </a:r>
              <a:endParaRPr lang="en-US" altLang="zh-CN" sz="44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实战 · 项目落地</a:t>
              </a:r>
              <a:endParaRPr lang="en-US" altLang="zh-CN" sz="2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供应商抽检需求全流程复盘</a:t>
              </a:r>
              <a:endParaRPr lang="zh-CN" altLang="en-US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671816" y="4443984"/>
            <a:ext cx="4222115" cy="805815"/>
            <a:chOff x="6085" y="2571"/>
            <a:chExt cx="6649" cy="1269"/>
          </a:xfrm>
        </p:grpSpPr>
        <p:sp>
          <p:nvSpPr>
            <p:cNvPr id="3" name="文本框 2"/>
            <p:cNvSpPr txBox="1"/>
            <p:nvPr/>
          </p:nvSpPr>
          <p:spPr>
            <a:xfrm>
              <a:off x="6085" y="2595"/>
              <a:ext cx="1406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06  </a:t>
              </a:r>
              <a:endParaRPr lang="en-US" altLang="zh-CN" sz="44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共建 · 团队玩法</a:t>
              </a:r>
              <a:endParaRPr lang="en-US" altLang="zh-CN" sz="2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经验沉淀，越用越聪明</a:t>
              </a:r>
              <a:endParaRPr lang="zh-CN" altLang="en-US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01  </a:t>
              </a:r>
              <a:endParaRPr lang="en-US" altLang="zh-CN" sz="96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痛点 · 为什么做</a:t>
              </a:r>
              <a:endParaRPr lang="en-US" altLang="zh-CN" sz="5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PART 01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AI 自由编码的 5 个老大难</a:t>
            </a:r>
            <a:endParaRPr sz="16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AI 自由编码的「五宗罪」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直接跟 AI 说「帮我写个页面」也能出代码 —— 但实际用起来，问题每次都一样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234440"/>
            <a:ext cx="2084831" cy="4069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0664" y="143560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1618488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26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0664" y="2194560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每次都要重新教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0664" y="2926080"/>
            <a:ext cx="1755648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Token 映射、组件库坑位、接口格式…… 每开一个新对话，都得从头说一遍</a:t>
            </a:r>
            <a:endParaRPr sz="11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813608" y="1234440"/>
            <a:ext cx="2084831" cy="4069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978200" y="143560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8200" y="1618488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6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78200" y="2194560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做到一半断了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978200" y="2926080"/>
            <a:ext cx="1755648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中断后再恢复，AI 不记得已经做了什么、做到哪一步，只能重来</a:t>
            </a:r>
            <a:endParaRPr sz="11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051145" y="1234440"/>
            <a:ext cx="2084831" cy="4069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215737" y="143560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5737" y="1618488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26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15737" y="2194560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还原靠运气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215737" y="2926080"/>
            <a:ext cx="1755648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同一个设计稿，这次 padding 对了，下次可能就错，没有固定检查机制</a:t>
            </a:r>
            <a:endParaRPr sz="11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288682" y="1234440"/>
            <a:ext cx="2084831" cy="4069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53274" y="143560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3274" y="1618488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26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453274" y="2194560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踩过的坑反复踩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453274" y="2926080"/>
            <a:ext cx="1755648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一个人踩了 XlbForm cellTheme 的坑，另一个人做新页面又踩一遍</a:t>
            </a:r>
            <a:endParaRPr sz="11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9526219" y="1234440"/>
            <a:ext cx="2084831" cy="4069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690811" y="143560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0811" y="1618488"/>
            <a:ext cx="17556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26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690811" y="2194560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无法验收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690811" y="2926080"/>
            <a:ext cx="1755648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AI 说「写好了」，但没人系统检查过样式偏差和功能遗漏，全凭肉眼</a:t>
            </a:r>
            <a:endParaRPr sz="11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76072" y="562356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不是 AI 不行，是没人给它定流程 —— 痛点即需求，这正是 design-to-code-max 的起点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04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对症下药：把痛点固化成流程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不管谁用、什么时候用，AI 都走同一条流水线 —— 产出标准文档，做标准检查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3017520" cy="73152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痛点</a:t>
            </a:r>
            <a:endParaRPr sz="10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每次都要重新教</a:t>
            </a:r>
            <a:endParaRPr sz="14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3730752" y="1335024"/>
            <a:ext cx="502920" cy="292608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70832" y="1115568"/>
            <a:ext cx="724204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/>
            <a:r>
              <a:rPr sz="14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reference 知识库内置　</a:t>
            </a:r>
            <a:r>
              <a:rPr sz="11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编码规范、token 映射、组件映射、gotchas 随 skill 自带，AI 上岗即是熟手</a:t>
            </a:r>
            <a:endParaRPr sz="11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76072" y="1988819"/>
            <a:ext cx="3017520" cy="73152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痛点</a:t>
            </a:r>
            <a:endParaRPr sz="10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做到一半断了</a:t>
            </a:r>
            <a:endParaRPr sz="14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3730752" y="2208276"/>
            <a:ext cx="502920" cy="292608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70832" y="1988819"/>
            <a:ext cx="724204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/>
            <a:r>
              <a:rPr sz="14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state.json 状态机　</a:t>
            </a:r>
            <a:r>
              <a:rPr sz="11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进度逐阶段落盘，关机重启也能从断点续接，不靠对话记忆</a:t>
            </a:r>
            <a:endParaRPr sz="11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76072" y="2862072"/>
            <a:ext cx="3017520" cy="73152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痛点</a:t>
            </a:r>
            <a:endParaRPr sz="10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还原靠运气</a:t>
            </a:r>
            <a:endParaRPr sz="14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3730752" y="3081528"/>
            <a:ext cx="502920" cy="292608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70832" y="2862072"/>
            <a:ext cx="724204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/>
            <a:r>
              <a:rPr sz="14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HTML 解析引擎 + 三要素审计　</a:t>
            </a:r>
            <a:r>
              <a:rPr sz="11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每个样式值都有出处和 token 映射，build 直接消费，不靠 AI 猜</a:t>
            </a:r>
            <a:endParaRPr sz="11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76072" y="3735324"/>
            <a:ext cx="3017520" cy="73152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痛点</a:t>
            </a:r>
            <a:endParaRPr sz="10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踩过的坑反复踩</a:t>
            </a:r>
            <a:endParaRPr sz="14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3730752" y="3954780"/>
            <a:ext cx="502920" cy="292608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70832" y="3735324"/>
            <a:ext cx="724204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/>
            <a:r>
              <a:rPr sz="14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偏差库 + gotchas　</a:t>
            </a:r>
            <a:r>
              <a:rPr sz="11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坑发现一次即入库，下次 audit 自动预标注，全队免疫</a:t>
            </a:r>
            <a:endParaRPr sz="11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76072" y="4608576"/>
            <a:ext cx="3017520" cy="73152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痛点</a:t>
            </a:r>
            <a:endParaRPr sz="10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无法验收</a:t>
            </a:r>
            <a:endParaRPr sz="14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3730752" y="4828032"/>
            <a:ext cx="502920" cy="292608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70832" y="4608576"/>
            <a:ext cx="724204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/>
            <a:r>
              <a:rPr sz="14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三道门禁　</a:t>
            </a:r>
            <a:r>
              <a:rPr sz="11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6 处人工确认 + 13 项出口检查 + verify 终检，不过不交付</a:t>
            </a:r>
            <a:endParaRPr sz="11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76072" y="562356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这个 skill 就是把这些对策固化成一套流程：AI 在流水线上干活，而不是自由发挥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05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02  </a:t>
              </a:r>
              <a:endParaRPr lang="en-US" altLang="zh-CN" sz="96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全景 · 是什么</a:t>
              </a:r>
              <a:endParaRPr lang="en-US" altLang="zh-CN" sz="5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PART 02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定位、核心能力与流水线架构</a:t>
            </a:r>
            <a:endParaRPr sz="16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06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它是什么：设计稿 → 生产代码的全链路交付 Skill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核心思路：让 AI 按标准化流水线工作，而不是自由发挥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6072" y="1261872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1280160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三平台支持</a:t>
            </a:r>
            <a:r>
              <a:rPr sz="12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　RN / H5 / PC</a:t>
            </a:r>
            <a:endParaRPr sz="12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5528" y="1773936"/>
            <a:ext cx="316382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每个平台一条独立流水线，规则完全隔离，互不污染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11396" y="1115568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11396" y="1261872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0852" y="1280160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增量需求</a:t>
            </a:r>
            <a:r>
              <a:rPr sz="1200" b="1" i="0">
                <a:solidFill>
                  <a:srgbClr val="30C0B4"/>
                </a:solidFill>
                <a:latin typeface="微软雅黑"/>
                <a:ea typeface="微软雅黑"/>
                <a:cs typeface="微软雅黑"/>
              </a:rPr>
              <a:t>　现有代码加功能</a:t>
            </a:r>
            <a:endParaRPr sz="1200" b="1" i="0">
              <a:solidFill>
                <a:srgbClr val="30C0B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30852" y="1773936"/>
            <a:ext cx="316382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先扫描目标目录与现有代码，再动手，不破坏存量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46720" y="1115568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46720" y="1261872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6176" y="1280160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重构需求</a:t>
            </a:r>
            <a:r>
              <a:rPr sz="1200" b="1" i="0">
                <a:solidFill>
                  <a:srgbClr val="EE822F"/>
                </a:solidFill>
                <a:latin typeface="微软雅黑"/>
                <a:ea typeface="微软雅黑"/>
                <a:cs typeface="微软雅黑"/>
              </a:rPr>
              <a:t>　H5→RN 等四种</a:t>
            </a:r>
            <a:endParaRPr sz="1200" b="1" i="0">
              <a:solidFill>
                <a:srgbClr val="EE82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66176" y="1773936"/>
            <a:ext cx="316382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被重构源码是功能点的唯一权威来源，1:1 对齐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76072" y="3054096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6072" y="3200400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487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3218688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多需求管理</a:t>
            </a:r>
            <a:r>
              <a:rPr sz="1200" b="1" i="0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　并行 + 续接</a:t>
            </a:r>
            <a:endParaRPr sz="1200" b="1" i="0">
              <a:solidFill>
                <a:srgbClr val="4874C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95528" y="3712463"/>
            <a:ext cx="316382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多个需求同时跟踪进度，中断后可从断点恢复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311396" y="3054096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11396" y="3200400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30852" y="3218688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UI 高度还原</a:t>
            </a:r>
            <a:r>
              <a:rPr sz="12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　token 级比对</a:t>
            </a:r>
            <a:endParaRPr sz="12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30852" y="3712463"/>
            <a:ext cx="316382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系统化比对设计稿样式，输出 token 级偏差记录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046720" y="3054096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46720" y="3200400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66176" y="3218688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API 规格前置</a:t>
            </a:r>
            <a:r>
              <a:rPr sz="1200" b="1" i="0">
                <a:solidFill>
                  <a:srgbClr val="75BD42"/>
                </a:solidFill>
                <a:latin typeface="微软雅黑"/>
                <a:ea typeface="微软雅黑"/>
                <a:cs typeface="微软雅黑"/>
              </a:rPr>
              <a:t>　唯一事实来源</a:t>
            </a:r>
            <a:endParaRPr sz="1200" b="1" i="0">
              <a:solidFill>
                <a:srgbClr val="75BD4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266176" y="3712463"/>
            <a:ext cx="316382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api-spec.md 统一消费；未就绪接口用 mock，不阻塞流程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76072" y="562356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一句话：把产品需求 + 设计稿（HTML / 截图）交给流水线，产出三端生产代码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07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一条流水线，三条产线：流程架构总览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前 4 站三端共用，后 4 站按平台分道 —— 每站都有产出物，关键站点设门禁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Pentagon 19"/>
          <p:cNvSpPr/>
          <p:nvPr/>
        </p:nvSpPr>
        <p:spPr>
          <a:xfrm>
            <a:off x="576072" y="1188720"/>
            <a:ext cx="1481328" cy="621792"/>
          </a:xfrm>
          <a:prstGeom prst="homePlate">
            <a:avLst>
              <a:gd name="adj" fmla="val 28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入口路由</a:t>
            </a:r>
            <a:endParaRPr sz="12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state 需求条目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Chevron 21"/>
          <p:cNvSpPr/>
          <p:nvPr/>
        </p:nvSpPr>
        <p:spPr>
          <a:xfrm>
            <a:off x="1938528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材料收集</a:t>
            </a:r>
            <a:endParaRPr sz="12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029968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材料清单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Chevron 23"/>
          <p:cNvSpPr/>
          <p:nvPr/>
        </p:nvSpPr>
        <p:spPr>
          <a:xfrm>
            <a:off x="3300984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功能点规格</a:t>
            </a:r>
            <a:endParaRPr sz="12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92424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features.md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Chevron 25"/>
          <p:cNvSpPr/>
          <p:nvPr/>
        </p:nvSpPr>
        <p:spPr>
          <a:xfrm>
            <a:off x="4663440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API 规格</a:t>
            </a:r>
            <a:endParaRPr sz="12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754880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api-spec.md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Chevron 27"/>
          <p:cNvSpPr/>
          <p:nvPr/>
        </p:nvSpPr>
        <p:spPr>
          <a:xfrm>
            <a:off x="6025896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FFFFFF"/>
          </a:solidFill>
          <a:ln w="1778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UI 审计</a:t>
            </a:r>
            <a:endParaRPr sz="125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17336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ui-audit.md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7388352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FFFFFF"/>
          </a:solidFill>
          <a:ln w="1778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技术设计</a:t>
            </a:r>
            <a:endParaRPr sz="125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79792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tech-design.md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Chevron 31"/>
          <p:cNvSpPr/>
          <p:nvPr/>
        </p:nvSpPr>
        <p:spPr>
          <a:xfrm>
            <a:off x="8750808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FFFFFF"/>
          </a:solidFill>
          <a:ln w="1778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代码生成</a:t>
            </a:r>
            <a:endParaRPr sz="125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42248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execution.md+代码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Chevron 33"/>
          <p:cNvSpPr/>
          <p:nvPr/>
        </p:nvSpPr>
        <p:spPr>
          <a:xfrm>
            <a:off x="10113264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FFFFFF"/>
          </a:solidFill>
          <a:ln w="1778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自测验证</a:t>
            </a:r>
            <a:endParaRPr sz="125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204704" y="1865376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交付总结</a:t>
            </a:r>
            <a:endParaRPr sz="8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76072" y="237744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—— 通用阶段 · 三端共用 ——</a:t>
            </a:r>
            <a:endParaRPr sz="105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09360" y="23774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EE822F"/>
                </a:solidFill>
                <a:latin typeface="微软雅黑"/>
                <a:ea typeface="微软雅黑"/>
                <a:cs typeface="微软雅黑"/>
              </a:rPr>
              <a:t>—— 平台阶段 · 按 inputs.platform 路由 ——</a:t>
            </a:r>
            <a:endParaRPr sz="1050" b="1" i="0">
              <a:solidFill>
                <a:srgbClr val="EE82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76072" y="2697480"/>
            <a:ext cx="5394960" cy="566928"/>
          </a:xfrm>
          <a:prstGeom prst="roundRect">
            <a:avLst>
              <a:gd name="adj" fmla="val 5500"/>
            </a:avLst>
          </a:prstGeom>
          <a:solidFill>
            <a:srgbClr val="EFF6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" rIns="54864" bIns="18288" rtlCol="0" anchor="ctr"/>
          <a:lstStyle/>
          <a:p>
            <a:pPr algn="l"/>
            <a:r>
              <a:rPr sz="12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√ 确认门禁 ×6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　每站产出文档，你确认后才推进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26480" y="2697480"/>
            <a:ext cx="2743200" cy="566928"/>
          </a:xfrm>
          <a:prstGeom prst="roundRect">
            <a:avLst>
              <a:gd name="adj" fmla="val 5500"/>
            </a:avLst>
          </a:prstGeom>
          <a:solidFill>
            <a:srgbClr val="FDF4EA"/>
          </a:solidFill>
          <a:ln w="12700">
            <a:solidFill>
              <a:srgbClr val="F5D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" rIns="54864" bIns="18288" rtlCol="0" anchor="ctr"/>
          <a:lstStyle/>
          <a:p>
            <a:pPr algn="l"/>
            <a:r>
              <a:rPr sz="1200" b="1" i="0">
                <a:solidFill>
                  <a:srgbClr val="EE822F"/>
                </a:solidFill>
                <a:latin typeface="微软雅黑"/>
                <a:ea typeface="微软雅黑"/>
                <a:cs typeface="微软雅黑"/>
              </a:rPr>
              <a:t>⚙ 出口门禁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　13 项检查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9006840" y="2697480"/>
            <a:ext cx="2606040" cy="566928"/>
          </a:xfrm>
          <a:prstGeom prst="roundRect">
            <a:avLst>
              <a:gd name="adj" fmla="val 5500"/>
            </a:avLst>
          </a:prstGeom>
          <a:solidFill>
            <a:srgbClr val="F0F9EB"/>
          </a:solidFill>
          <a:ln w="12700">
            <a:solidFill>
              <a:srgbClr val="D2E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" rIns="54864" bIns="18288" rtlCol="0" anchor="ctr"/>
          <a:lstStyle/>
          <a:p>
            <a:pPr algn="l"/>
            <a:r>
              <a:rPr sz="1200" b="1" i="0">
                <a:solidFill>
                  <a:srgbClr val="5B8F2E"/>
                </a:solidFill>
                <a:latin typeface="微软雅黑"/>
                <a:ea typeface="微软雅黑"/>
                <a:cs typeface="微软雅黑"/>
              </a:rPr>
              <a:t>✓ 终检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　通过才交付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76072" y="3410712"/>
            <a:ext cx="13716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平台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路由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铁律 8</a:t>
            </a:r>
            <a:endParaRPr sz="10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平台约束隔离</a:t>
            </a:r>
            <a:endParaRPr sz="9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828800" y="3520440"/>
            <a:ext cx="978408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8288" rIns="54864" bIns="18288" rtlCol="0" anchor="ctr"/>
          <a:lstStyle/>
          <a:p>
            <a:pPr algn="l"/>
            <a:r>
              <a:rPr sz="12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RN 流水线　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audit → design → build → verify　｜　只引用 reference/rn 规则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956816" y="3648456"/>
            <a:ext cx="219456" cy="21945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828800" y="4123944"/>
            <a:ext cx="978408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8288" rIns="54864" bIns="18288" rtlCol="0" anchor="ctr"/>
          <a:lstStyle/>
          <a:p>
            <a:pPr algn="l"/>
            <a:r>
              <a:rPr sz="1250" b="1" i="0">
                <a:solidFill>
                  <a:srgbClr val="EE822F"/>
                </a:solidFill>
                <a:latin typeface="微软雅黑"/>
                <a:ea typeface="微软雅黑"/>
                <a:cs typeface="微软雅黑"/>
              </a:rPr>
              <a:t>H5 流水线　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audit → design → build → verify　｜　只引用 reference/h5 规则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1956816" y="4251959"/>
            <a:ext cx="219456" cy="219456"/>
          </a:xfrm>
          <a:prstGeom prst="ellipse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828800" y="4727448"/>
            <a:ext cx="978408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0C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18288" rIns="54864" bIns="18288" rtlCol="0" anchor="ctr"/>
          <a:lstStyle/>
          <a:p>
            <a:pPr algn="l"/>
            <a:r>
              <a:rPr sz="1250" b="1" i="0">
                <a:solidFill>
                  <a:srgbClr val="30C0B4"/>
                </a:solidFill>
                <a:latin typeface="微软雅黑"/>
                <a:ea typeface="微软雅黑"/>
                <a:cs typeface="微软雅黑"/>
              </a:rPr>
              <a:t>PC 流水线　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audit → design → build → verify　｜　只引用 reference/pc 规则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1956816" y="4855464"/>
            <a:ext cx="219456" cy="219456"/>
          </a:xfrm>
          <a:prstGeom prst="ellipse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76072" y="557784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不是 AI 自由发挥，是 AI 在流水线上干活 —— 每站有说明书，关键站点有闸门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08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Skill 的骨架：总纲 + 说明书 + 知识库 + 模板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AI 不是临场发挥 —— 每一步都有说明书，每一个取值都有参考依据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5623560" cy="4279392"/>
          </a:xfrm>
          <a:prstGeom prst="roundRect">
            <a:avLst>
              <a:gd name="adj" fmla="val 45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t"/>
          <a:lstStyle/>
          <a:p>
            <a:pPr algn="l">
              <a:lnSpc>
                <a:spcPct val="132000"/>
              </a:lnSpc>
            </a:pPr>
            <a:r>
              <a:rPr sz="1300" b="1" i="0">
                <a:solidFill>
                  <a:srgbClr val="7EC3FF"/>
                </a:solidFill>
                <a:latin typeface="Consolas"/>
                <a:ea typeface="Consolas"/>
                <a:cs typeface="Consolas"/>
              </a:rPr>
              <a:t>design-to-code-max/</a:t>
            </a:r>
            <a:endParaRPr sz="1300" b="1" i="0">
              <a:solidFill>
                <a:srgbClr val="7EC3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├── SKILL.md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 总纲：8 条铁律 + 路由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├── subskills/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 分阶段执行说明书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│   ├── common/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通用 4 阶段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│   └── rn/ h5/ pc/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平台各 4 阶段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├── reference/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知识库：规范/token/gotchas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├── templates/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文档模板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└── scripts/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 门禁校验 + 指标收集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</a:p>
          <a:p>
            <a:pPr algn="l">
              <a:lnSpc>
                <a:spcPct val="132000"/>
              </a:lnSpc>
            </a:pPr>
            <a:r>
              <a:rPr sz="1200" b="1" i="0">
                <a:solidFill>
                  <a:srgbClr val="FFD666"/>
                </a:solidFill>
                <a:latin typeface="Consolas"/>
                <a:ea typeface="Consolas"/>
                <a:cs typeface="Consolas"/>
              </a:rPr>
              <a:t>运行时产出 → 你的项目/.ai-wiki/</a:t>
            </a:r>
            <a:endParaRPr sz="1200" b="1" i="0">
              <a:solidFill>
                <a:srgbClr val="FFD666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.dtc-state.json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状态机（多需求共存）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design-deviation-db.json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偏差库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【需求名】/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features / api-spec / ui-audit …</a:t>
            </a:r>
            <a:endParaRPr sz="10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0" y="1115568"/>
            <a:ext cx="521208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12801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渐进式披露：选什么平台，加载什么规则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601968" y="171907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选 RN</a:t>
            </a:r>
            <a:endParaRPr sz="10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99248" y="1719072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加载 </a:t>
            </a:r>
            <a:r>
              <a:rPr sz="110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common + rn</a:t>
            </a:r>
            <a:endParaRPr sz="110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601968" y="2148839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选 H5</a:t>
            </a:r>
            <a:endParaRPr sz="10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99248" y="2148839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加载 </a:t>
            </a:r>
            <a:r>
              <a:rPr sz="1100" b="1" i="0">
                <a:solidFill>
                  <a:srgbClr val="EE822F"/>
                </a:solidFill>
                <a:latin typeface="Consolas"/>
                <a:ea typeface="Consolas"/>
                <a:cs typeface="Consolas"/>
              </a:rPr>
              <a:t>common + h5</a:t>
            </a:r>
            <a:endParaRPr sz="1100" b="1" i="0">
              <a:solidFill>
                <a:srgbClr val="EE822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601968" y="2578607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选 PC</a:t>
            </a:r>
            <a:endParaRPr sz="10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99248" y="2578607"/>
            <a:ext cx="374903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加载 </a:t>
            </a:r>
            <a:r>
              <a:rPr sz="1100" b="1" i="0">
                <a:solidFill>
                  <a:srgbClr val="30C0B4"/>
                </a:solidFill>
                <a:latin typeface="Consolas"/>
                <a:ea typeface="Consolas"/>
                <a:cs typeface="Consolas"/>
              </a:rPr>
              <a:t>common + pc</a:t>
            </a:r>
            <a:endParaRPr sz="1100" b="1" i="0">
              <a:solidFill>
                <a:srgbClr val="30C0B4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400800" y="3310128"/>
            <a:ext cx="5212080" cy="208483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345643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8 条铁律（精选）</a:t>
            </a:r>
            <a:r>
              <a:rPr sz="9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　写在 SKILL.md，AI 启动先读</a:t>
            </a:r>
            <a:endParaRPr sz="9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01968" y="385876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① 功能完整性优先：不为样式合规删任何功能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01968" y="422452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② Token 唯一来源：禁止硬编码 hex / magic number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01968" y="459028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③ 阶段未 checkpoint 禁止推进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01968" y="495604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⑧ 平台约束隔离：禁止跨平台引用规则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76072" y="562356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说明书（subskills）+ 参考依据（reference）+ 模板（templates）—— 三件套管住每一次生成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09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03  </a:t>
              </a:r>
              <a:endParaRPr lang="en-US" altLang="zh-CN" sz="96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机制 · 四大武器</a:t>
              </a:r>
              <a:endParaRPr lang="en-US" altLang="zh-CN" sz="5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PART 03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HTML 解析引擎 / 三道门禁 / 状态机 / 偏差库</a:t>
            </a:r>
            <a:endParaRPr sz="16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10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武器 ①  HTML 结构化解析引擎 —— UI 高还原的秘密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把设计稿从「AI 眼里的一张图」变成「可消费的结构化数据」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2020824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Step 1</a:t>
            </a:r>
            <a:endParaRPr sz="900" b="1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按页面拆分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DOM 边界切分</a:t>
            </a:r>
            <a:endParaRPr sz="9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2615184" y="1444752"/>
            <a:ext cx="182880" cy="256032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811779" y="1115568"/>
            <a:ext cx="2020824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Step 2</a:t>
            </a:r>
            <a:endParaRPr sz="900" b="1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逐元素解析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标签/样式/文本</a:t>
            </a:r>
            <a:endParaRPr sz="9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4850892" y="1444752"/>
            <a:ext cx="182880" cy="256032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47488" y="1115568"/>
            <a:ext cx="2020824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Step 3</a:t>
            </a:r>
            <a:endParaRPr sz="900" b="1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三要素归类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layout/字体/间距</a:t>
            </a:r>
            <a:endParaRPr sz="9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7086600" y="1444752"/>
            <a:ext cx="182880" cy="256032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83196" y="1115568"/>
            <a:ext cx="2020824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Step 4</a:t>
            </a:r>
            <a:endParaRPr sz="900" b="1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Token 映射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按平台查映射表</a:t>
            </a:r>
            <a:endParaRPr sz="9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9322308" y="1444752"/>
            <a:ext cx="182880" cy="256032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18904" y="1115568"/>
            <a:ext cx="2020824" cy="914400"/>
          </a:xfrm>
          <a:prstGeom prst="roundRect">
            <a:avLst>
              <a:gd name="adj" fmla="val 55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BFE0FF"/>
                </a:solidFill>
                <a:latin typeface="微软雅黑"/>
                <a:ea typeface="微软雅黑"/>
                <a:cs typeface="微软雅黑"/>
              </a:rPr>
              <a:t>Step 5</a:t>
            </a:r>
            <a:endParaRPr sz="900" b="1" i="0">
              <a:solidFill>
                <a:srgbClr val="BFE0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 JSON</a:t>
            </a:r>
            <a:endParaRPr sz="13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BFE0FF"/>
                </a:solidFill>
                <a:latin typeface="微软雅黑"/>
                <a:ea typeface="微软雅黑"/>
                <a:cs typeface="微软雅黑"/>
              </a:rPr>
              <a:t>parsed-styles/</a:t>
            </a:r>
            <a:endParaRPr sz="950" b="0" i="0">
              <a:solidFill>
                <a:srgbClr val="BFE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76072" y="2286000"/>
            <a:ext cx="5394960" cy="2606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243230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每个元素提取「三要素」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77240" y="28986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2852928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Layout 布局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492A6"/>
                </a:solidFill>
                <a:latin typeface="Consolas"/>
                <a:ea typeface="Consolas"/>
                <a:cs typeface="Consolas"/>
              </a:rPr>
              <a:t>display / flexDirection / padding / gap / justifyContent …</a:t>
            </a:r>
            <a:endParaRPr sz="950" b="0" i="0">
              <a:solidFill>
                <a:srgbClr val="8492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77240" y="346557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" y="3419856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Typography 字体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492A6"/>
                </a:solidFill>
                <a:latin typeface="Consolas"/>
                <a:ea typeface="Consolas"/>
                <a:cs typeface="Consolas"/>
              </a:rPr>
              <a:t>fontSize / fontWeight / lineHeight / color / textAlign</a:t>
            </a:r>
            <a:endParaRPr sz="950" b="0" i="0">
              <a:solidFill>
                <a:srgbClr val="8492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77240" y="403250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" y="3986784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Spacing &amp; Style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492A6"/>
                </a:solidFill>
                <a:latin typeface="Consolas"/>
                <a:ea typeface="Consolas"/>
                <a:cs typeface="Consolas"/>
              </a:rPr>
              <a:t>borderRadius / borderWidth / backgroundColor / margin</a:t>
            </a:r>
            <a:endParaRPr sz="950" b="0" i="0">
              <a:solidFill>
                <a:srgbClr val="8492A6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77240" y="455371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每属性 = 原始值 + token 映射值；无法映射 → unmappedTokens</a:t>
            </a:r>
            <a:endParaRPr sz="1000" b="1" i="0">
              <a:solidFill>
                <a:srgbClr val="E54C5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217920" y="2286000"/>
            <a:ext cx="5394960" cy="2606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243230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截图扫读：与解析并列的另一条腿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19088" y="2852928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· HTML 管静态：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只描述静态 DOM 结构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19088" y="3328416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· 截图管动态：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展开收起 / Tab 切换 / 弹窗 / 状态配色 / 空态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419088" y="3803904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· 逐张扫读：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每张截图产出 screenshotFindings，条数不符 audit 不过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19088" y="427939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· 发现回补：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截图发现新功能点，先回补 features.md 再继续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76072" y="5074920"/>
            <a:ext cx="11036808" cy="914400"/>
          </a:xfrm>
          <a:prstGeom prst="roundRect">
            <a:avLst>
              <a:gd name="adj" fmla="val 5500"/>
            </a:avLst>
          </a:prstGeom>
          <a:solidFill>
            <a:srgbClr val="EFF6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消费链路：</a:t>
            </a:r>
            <a:r>
              <a:rPr sz="1200" b="0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audit 三要素表 → build 读 JSON 写代码 → verify 还原度终检</a:t>
            </a:r>
            <a:endParaRPr sz="1200" b="0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build 不再裸读 HTML，不靠 AI 记忆猜 padding —— 这次 12px，下次还是 12px</a:t>
            </a:r>
            <a:endParaRPr sz="10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11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武器 ②  三道门禁 —— 不是 AI 说「写好了」就算好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质量不押注在运气上：每一道关都有明确标准，不过不放行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43000"/>
            <a:ext cx="3566160" cy="3977639"/>
          </a:xfrm>
          <a:prstGeom prst="roundRect">
            <a:avLst>
              <a:gd name="adj" fmla="val 5500"/>
            </a:avLst>
          </a:prstGeom>
          <a:solidFill>
            <a:srgbClr val="EFF6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" y="137160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 道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10512" y="137160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阶段确认门禁 ×6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4672" y="199339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analyze → 材料 → 功能点 → API → audit → design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4672" y="258775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checklistPassed + 你确认，双通过才推进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4672" y="318211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每站产出文档，不满意就打回重做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4672" y="4617720"/>
            <a:ext cx="3108960" cy="82296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11396" y="1143000"/>
            <a:ext cx="3566160" cy="3977639"/>
          </a:xfrm>
          <a:prstGeom prst="roundRect">
            <a:avLst>
              <a:gd name="adj" fmla="val 5500"/>
            </a:avLst>
          </a:prstGeom>
          <a:solidFill>
            <a:srgbClr val="FDF4EA"/>
          </a:solidFill>
          <a:ln w="12700">
            <a:solidFill>
              <a:srgbClr val="F5D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39996" y="137160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2 道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45836" y="137160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build 出口门禁 ×13 项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39996" y="199339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全部分组完成后自动检查 13 项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39996" y="258775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完成度 / 硬编码扫描 / dependencies 禁用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39996" y="318211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API 取值 / 偏差库同步 / 字段零遗漏 …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39996" y="377647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任一项不过，禁止进入 verify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539996" y="4617720"/>
            <a:ext cx="3108960" cy="82296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46720" y="1143000"/>
            <a:ext cx="3566160" cy="3977639"/>
          </a:xfrm>
          <a:prstGeom prst="roundRect">
            <a:avLst>
              <a:gd name="adj" fmla="val 5500"/>
            </a:avLst>
          </a:prstGeom>
          <a:solidFill>
            <a:srgbClr val="F0F9EB"/>
          </a:solidFill>
          <a:ln w="12700">
            <a:solidFill>
              <a:srgbClr val="D2E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75320" y="137160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5B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3 道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281160" y="1371600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verify 终检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75320" y="199339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功能验证 + 样式合规扫描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75320" y="258775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API 合规 4 项 + 偏差库同步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275320" y="318211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产出交付总结：文件清单 / 耗时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275320" y="3776472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剩余风险 / 待人工确认项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275320" y="4617720"/>
            <a:ext cx="3108960" cy="82296"/>
          </a:xfrm>
          <a:prstGeom prst="roundRect">
            <a:avLst>
              <a:gd name="adj" fmla="val 50000"/>
            </a:avLst>
          </a:prstGeom>
          <a:solidFill>
            <a:srgbClr val="5B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76072" y="562356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的「写好了」是概率，门禁的「通过了」是标准 —— 标准统一，人人可验收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12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武器 ③  状态机 —— 可中断、可恢复的「黑匣子」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进度写在 .ai-wiki/.dtc-state.json 里，不靠对话记忆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5394960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1261872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中断后再打开……</a:t>
            </a:r>
            <a:endParaRPr sz="13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1627632"/>
            <a:ext cx="4992624" cy="658368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54864" bIns="18288" rtlCol="0" anchor="ctr"/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54C5E"/>
                </a:solidFill>
                <a:latin typeface="微软雅黑"/>
                <a:ea typeface="微软雅黑"/>
                <a:cs typeface="微软雅黑"/>
              </a:rPr>
              <a:t>× 直接对话：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「刚才我们聊到哪了？上下文发我一下」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7240" y="2395728"/>
            <a:ext cx="4992624" cy="786384"/>
          </a:xfrm>
          <a:prstGeom prst="roundRect">
            <a:avLst>
              <a:gd name="adj" fmla="val 5500"/>
            </a:avLst>
          </a:prstGeom>
          <a:solidFill>
            <a:srgbClr val="F0F9EB"/>
          </a:solidFill>
          <a:ln w="12700">
            <a:solidFill>
              <a:srgbClr val="D2E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54864" bIns="18288" rtlCol="0" anchor="ctr"/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8F2E"/>
                </a:solidFill>
                <a:latin typeface="微软雅黑"/>
                <a:ea typeface="微软雅黑"/>
                <a:cs typeface="微软雅黑"/>
              </a:rPr>
              <a:t>√ 用 skill：</a:t>
            </a: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「检测到未完成需求【企业认证】，当前 build 阶段（分组 3/8），是否继续？」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76072" y="3493008"/>
            <a:ext cx="5394960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621024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state.json 记了什么</a:t>
            </a:r>
            <a:endParaRPr sz="13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40" y="3968496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currentPhase 当前阶段 / inputs.platform 平台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431596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completedGroups 已完成分组 / phaseOutputs 各阶段产出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46634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changeLog 变更记录（小改回退 build，大改新需求）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7240" y="501091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· 多需求共存在一个文件，互不干扰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17920" y="1115568"/>
            <a:ext cx="5394960" cy="4297680"/>
          </a:xfrm>
          <a:prstGeom prst="roundRect">
            <a:avLst>
              <a:gd name="adj" fmla="val 5500"/>
            </a:avLst>
          </a:prstGeom>
          <a:solidFill>
            <a:srgbClr val="F8FAFE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128016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恢复三机制</a:t>
            </a:r>
            <a:endParaRPr sz="14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6419088" y="1719072"/>
            <a:ext cx="365760" cy="365760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31152" y="1719072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需求总览，点谁续谁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重启列出全部需求：名称 / 类型 / 阶段 / 完成度，用问题卡片让你选</a:t>
            </a:r>
            <a:endParaRPr sz="10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419088" y="2743200"/>
            <a:ext cx="365760" cy="365760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931152" y="274320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平台路由恢复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按 inputs.platform 路由回 rn / h5 / pc 对应流水线，禁止跨平台串线</a:t>
            </a:r>
            <a:endParaRPr sz="10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6419088" y="3767328"/>
            <a:ext cx="365760" cy="365760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31152" y="376732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上下文刷新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只加载当前分组的规格与解析数据，不加载已完成分组的代码 —— 上下文不爆炸</a:t>
            </a:r>
            <a:endParaRPr sz="10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419088" y="480974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保障：每组完成即更新 state；execution.md 顶部维护「恢复入口」标记</a:t>
            </a:r>
            <a:endParaRPr sz="10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关机、换需求、改需求都不怕 —— 它记得，因为进度写在文件里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13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武器 ④  偏差库 + Gotchas —— 坑，只踩一次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一个人发现，所有人受益；这套 skill 越用越聪明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4297680" cy="4160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126187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偏差库生命周期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1691640"/>
            <a:ext cx="3895344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" rIns="54864" bIns="18288" rtlCol="0" anchor="ctr"/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audit</a:t>
            </a:r>
            <a:endParaRPr sz="115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读取偏差库，匹配已知组件，预标注到 ui-audit.md</a:t>
            </a:r>
            <a:endParaRPr sz="10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7240" y="1819656"/>
            <a:ext cx="64008" cy="640080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2651760" y="2606040"/>
            <a:ext cx="182880" cy="182880"/>
          </a:xfrm>
          <a:prstGeom prst="down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2788920"/>
            <a:ext cx="3895344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" rIns="54864" bIns="18288" rtlCol="0" anchor="ctr"/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E822F"/>
                </a:solidFill>
                <a:latin typeface="微软雅黑"/>
                <a:ea typeface="微软雅黑"/>
                <a:cs typeface="微软雅黑"/>
              </a:rPr>
              <a:t>build Step 5.5</a:t>
            </a:r>
            <a:endParaRPr sz="1150" b="1" i="0">
              <a:solidFill>
                <a:srgbClr val="EE822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新偏差追加入库；命中已知偏差计数 +1</a:t>
            </a:r>
            <a:endParaRPr sz="10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77240" y="2916936"/>
            <a:ext cx="64008" cy="640080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2651760" y="3703320"/>
            <a:ext cx="182880" cy="182880"/>
          </a:xfrm>
          <a:prstGeom prst="down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3886200"/>
            <a:ext cx="3895344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" rIns="54864" bIns="18288" rtlCol="0" anchor="ctr"/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8F2E"/>
                </a:solidFill>
                <a:latin typeface="微软雅黑"/>
                <a:ea typeface="微软雅黑"/>
                <a:cs typeface="微软雅黑"/>
              </a:rPr>
              <a:t>verify</a:t>
            </a:r>
            <a:endParaRPr sz="1150" b="1" i="0">
              <a:solidFill>
                <a:srgbClr val="5B8F2E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验证已修复的偏差，标记 resolved = true</a:t>
            </a:r>
            <a:endParaRPr sz="10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77240" y="4014215"/>
            <a:ext cx="64008" cy="640080"/>
          </a:xfrm>
          <a:prstGeom prst="roundRect">
            <a:avLst>
              <a:gd name="adj" fmla="val 50000"/>
            </a:avLst>
          </a:prstGeom>
          <a:solidFill>
            <a:srgbClr val="5B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95604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记录：组件 / 缺陷 / 补偿方案 / 严重度 / 影响需求</a:t>
            </a:r>
            <a:endParaRPr sz="9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056632" y="1115568"/>
            <a:ext cx="3108960" cy="4160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126187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Gotchas 五大分类</a:t>
            </a:r>
            <a:endParaRPr sz="13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257800" y="1719072"/>
            <a:ext cx="2706624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54864" bIns="18288" rtlCol="0" anchor="ctr"/>
          <a:lstStyle/>
          <a:p>
            <a:pPr algn="l"/>
            <a:r>
              <a:rPr sz="11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组件库陷阱</a:t>
            </a:r>
            <a:r>
              <a:rPr sz="95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　17 篇</a:t>
            </a:r>
            <a:endParaRPr sz="95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257800" y="2340864"/>
            <a:ext cx="2706624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54864" bIns="18288" rtlCol="0" anchor="ctr"/>
          <a:lstStyle/>
          <a:p>
            <a:pPr algn="l"/>
            <a:r>
              <a:rPr sz="11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HTML 解析</a:t>
            </a:r>
            <a:r>
              <a:rPr sz="95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　3 篇</a:t>
            </a:r>
            <a:endParaRPr sz="95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257800" y="2962656"/>
            <a:ext cx="2706624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54864" bIns="18288" rtlCol="0" anchor="ctr"/>
          <a:lstStyle/>
          <a:p>
            <a:pPr algn="l"/>
            <a:r>
              <a:rPr sz="11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RN 平台特性</a:t>
            </a:r>
            <a:r>
              <a:rPr sz="95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　8 篇</a:t>
            </a:r>
            <a:endParaRPr sz="95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257800" y="3584448"/>
            <a:ext cx="2706624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54864" bIns="18288" rtlCol="0" anchor="ctr"/>
          <a:lstStyle/>
          <a:p>
            <a:pPr algn="l"/>
            <a:r>
              <a:rPr sz="11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API 响应结构</a:t>
            </a:r>
            <a:r>
              <a:rPr sz="95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　1 篇</a:t>
            </a:r>
            <a:endParaRPr sz="95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257800" y="4206240"/>
            <a:ext cx="2706624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" rIns="54864" bIns="18288" rtlCol="0" anchor="ctr"/>
          <a:lstStyle/>
          <a:p>
            <a:pPr algn="l"/>
            <a:r>
              <a:rPr sz="11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构建阶段问题</a:t>
            </a:r>
            <a:r>
              <a:rPr sz="95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　1 篇</a:t>
            </a:r>
            <a:endParaRPr sz="95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257800" y="48463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每篇 = 现象 + 根因 + 正确姿势</a:t>
            </a:r>
            <a:endParaRPr sz="9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348472" y="1115568"/>
            <a:ext cx="3264408" cy="4160520"/>
          </a:xfrm>
          <a:prstGeom prst="roundRect">
            <a:avLst>
              <a:gd name="adj" fmla="val 55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9640" y="126187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真实案例 3 则</a:t>
            </a:r>
            <a:endParaRPr sz="13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549640" y="1719072"/>
            <a:ext cx="29260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D666"/>
                </a:solidFill>
                <a:latin typeface="微软雅黑"/>
                <a:ea typeface="微软雅黑"/>
                <a:cs typeface="微软雅黑"/>
              </a:rPr>
              <a:t>▸ XlbForm 内边距</a:t>
            </a:r>
            <a:endParaRPr sz="1100" b="1" i="0">
              <a:solidFill>
                <a:srgbClr val="FFD666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9D6E8"/>
                </a:solidFill>
                <a:latin typeface="微软雅黑"/>
                <a:ea typeface="微软雅黑"/>
                <a:cs typeface="微软雅黑"/>
              </a:rPr>
              <a:t>用 cellTheme 全局设，加到单个 Item 上无效</a:t>
            </a:r>
            <a:endParaRPr sz="1000" b="0" i="0">
              <a:solidFill>
                <a:srgbClr val="C9D6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549640" y="2889504"/>
            <a:ext cx="29260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D666"/>
                </a:solidFill>
                <a:latin typeface="微软雅黑"/>
                <a:ea typeface="微软雅黑"/>
                <a:cs typeface="微软雅黑"/>
              </a:rPr>
              <a:t>▸ 表单联动</a:t>
            </a:r>
            <a:endParaRPr sz="1100" b="1" i="0">
              <a:solidFill>
                <a:srgbClr val="FFD666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9D6E8"/>
                </a:solidFill>
                <a:latin typeface="微软雅黑"/>
                <a:ea typeface="微软雅黑"/>
                <a:cs typeface="微软雅黑"/>
              </a:rPr>
              <a:t>禁止 dependencies，用 getFieldValue / useWatch</a:t>
            </a:r>
            <a:endParaRPr sz="1000" b="0" i="0">
              <a:solidFill>
                <a:srgbClr val="C9D6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549640" y="4059936"/>
            <a:ext cx="29260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D666"/>
                </a:solidFill>
                <a:latin typeface="微软雅黑"/>
                <a:ea typeface="微软雅黑"/>
                <a:cs typeface="微软雅黑"/>
              </a:rPr>
              <a:t>▸ fsmshttp 取值</a:t>
            </a:r>
            <a:endParaRPr sz="1100" b="1" i="0">
              <a:solidFill>
                <a:srgbClr val="FFD666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9D6E8"/>
                </a:solidFill>
                <a:latin typeface="微软雅黑"/>
                <a:ea typeface="微软雅黑"/>
                <a:cs typeface="微软雅黑"/>
              </a:rPr>
              <a:t>res?.data?.content 就是顶层，别多解一层 .data</a:t>
            </a:r>
            <a:endParaRPr sz="1000" b="0" i="0">
              <a:solidFill>
                <a:srgbClr val="C9D6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以前：踩坑 → 修好 → 忘掉 → 再踩　　现在：踩坑 → 入库 → 全队免疫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14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04  </a:t>
              </a:r>
              <a:endParaRPr lang="en-US" altLang="zh-CN" sz="96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上手 · 怎么用</a:t>
              </a:r>
              <a:endParaRPr lang="en-US" altLang="zh-CN" sz="5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PART 04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三步上手 · 流程流转 · 驾驭姿势</a:t>
            </a:r>
            <a:endParaRPr sz="16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15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三步上手：5 分钟装好，全端通用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XLB 前端开发插件官网 · Skills 市场一键安装，装完重启 Qoder 即用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43000"/>
            <a:ext cx="356616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135331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STEP 1</a:t>
            </a:r>
            <a:endParaRPr sz="10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95528" y="1810512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打开 Skills 市场</a:t>
            </a:r>
            <a:endParaRPr sz="14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95528" y="2468880"/>
            <a:ext cx="3127248" cy="2514600"/>
          </a:xfrm>
          <a:prstGeom prst="roundRect">
            <a:avLst>
              <a:gd name="adj" fmla="val 60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tlCol="0" anchor="t"/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EC3FF"/>
                </a:solidFill>
                <a:latin typeface="Consolas"/>
                <a:ea typeface="Consolas"/>
                <a:cs typeface="Consolas"/>
              </a:rPr>
              <a:t>进入 XLB 前端开发插件官网</a:t>
            </a:r>
            <a:endParaRPr sz="1000" b="1" i="0">
              <a:solidFill>
                <a:srgbClr val="7EC3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点击顶部导航「Skills 市场」</a:t>
            </a:r>
            <a:endParaRPr sz="1000" b="0" i="0">
              <a:solidFill>
                <a:srgbClr val="E6EDF3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# 已装插件也可在插件面板进入</a:t>
            </a:r>
            <a:endParaRPr sz="9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11396" y="1143000"/>
            <a:ext cx="356616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30852" y="135331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STEP 2</a:t>
            </a:r>
            <a:endParaRPr sz="10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30852" y="1810512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复制命令一键安装</a:t>
            </a:r>
            <a:endParaRPr sz="14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530852" y="2468880"/>
            <a:ext cx="3127248" cy="2514600"/>
          </a:xfrm>
          <a:prstGeom prst="roundRect">
            <a:avLst>
              <a:gd name="adj" fmla="val 60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tlCol="0" anchor="t"/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EC3FF"/>
                </a:solidFill>
                <a:latin typeface="Consolas"/>
                <a:ea typeface="Consolas"/>
                <a:cs typeface="Consolas"/>
              </a:rPr>
              <a:t>搜索 design-to-code-max → 详情页</a:t>
            </a:r>
            <a:endParaRPr sz="1000" b="1" i="0">
              <a:solidFill>
                <a:srgbClr val="7EC3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复制 curl 命令，终端执行（需 Node 18+）</a:t>
            </a:r>
            <a:endParaRPr sz="1000" b="0" i="0">
              <a:solidFill>
                <a:srgbClr val="E6EDF3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# 自动解压到 ~/.qoder/skills/</a:t>
            </a:r>
            <a:endParaRPr sz="9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EC3FF"/>
                </a:solidFill>
                <a:latin typeface="Consolas"/>
                <a:ea typeface="Consolas"/>
                <a:cs typeface="Consolas"/>
              </a:rPr>
              <a:t>重启 Qoder 即生效</a:t>
            </a:r>
            <a:endParaRPr sz="1000" b="1" i="0">
              <a:solidFill>
                <a:srgbClr val="7EC3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无 Node 可「下载 SKILL 文件」手动安装</a:t>
            </a:r>
            <a:endParaRPr sz="1000" b="0" i="0">
              <a:solidFill>
                <a:srgbClr val="E6EDF3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46720" y="1143000"/>
            <a:ext cx="356616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66176" y="135331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STEP 3</a:t>
            </a:r>
            <a:endParaRPr sz="105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66176" y="1810512"/>
            <a:ext cx="3200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用起来</a:t>
            </a:r>
            <a:endParaRPr sz="14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66176" y="2468880"/>
            <a:ext cx="3127248" cy="2514600"/>
          </a:xfrm>
          <a:prstGeom prst="roundRect">
            <a:avLst>
              <a:gd name="adj" fmla="val 60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tlCol="0" anchor="t"/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EC3FF"/>
                </a:solidFill>
                <a:latin typeface="Consolas"/>
                <a:ea typeface="Consolas"/>
                <a:cs typeface="Consolas"/>
              </a:rPr>
              <a:t>/design-to-code-max</a:t>
            </a:r>
            <a:endParaRPr sz="1000" b="1" i="0">
              <a:solidFill>
                <a:srgbClr val="7EC3FF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做一下企业认证页面的重构</a:t>
            </a:r>
            <a:endParaRPr sz="1000" b="0" i="0">
              <a:solidFill>
                <a:srgbClr val="E6EDF3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然后跟着 AI 的引导走</a:t>
            </a:r>
            <a:endParaRPr sz="950" b="0" i="0">
              <a:solidFill>
                <a:srgbClr val="8DA2B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76072" y="5440680"/>
            <a:ext cx="11036808" cy="658368"/>
          </a:xfrm>
          <a:prstGeom prst="roundRect">
            <a:avLst>
              <a:gd name="adj" fmla="val 5500"/>
            </a:avLst>
          </a:prstGeom>
          <a:solidFill>
            <a:srgbClr val="EFF6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/>
            <a:r>
              <a:rPr sz="12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更新：</a:t>
            </a:r>
            <a:r>
              <a:rPr sz="11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市场发布新版本后，重新执行一次 curl 一键安装命令即覆盖到最新</a:t>
            </a:r>
            <a:endParaRPr sz="11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16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一次需求之旅：8 站流转，你只做 3 件事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回答问题 → 看文档确认 → 提修改意见；其余的，流水线来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11036808" cy="384048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111556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62072" y="1115568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产出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62472" y="1115568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你要做的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76072" y="1572768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157276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1 入口路由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862072" y="157276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问题卡片 ×3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62472" y="157276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回答：需求名称 / 平台（RN·H5·PC）/ 类型（增量·重构）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0771632" y="1673352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需你确认</a:t>
            </a:r>
            <a:endParaRPr sz="8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76072" y="2071116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207111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2 材料收集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62072" y="2071116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材料清单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62472" y="2071116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提供设计稿 HTML + 截图；重构需求给出被重构源码路径（必填）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771632" y="2171700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需你确认</a:t>
            </a:r>
            <a:endParaRPr sz="8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76072" y="2569464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2569464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3 功能点规格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862072" y="2569464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features.md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62472" y="256946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审功能点拆分与联动关系，确认或提修改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0771632" y="2670048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需你确认</a:t>
            </a:r>
            <a:endParaRPr sz="8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76072" y="3067812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" y="306781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4 API 规格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862072" y="3067812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api-spec.md + mock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062472" y="3067812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核对入参 / 出参 / 取值路径；未就绪接口确认用 mock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0771632" y="3168396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需你确认</a:t>
            </a:r>
            <a:endParaRPr sz="8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76072" y="3566160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" y="356616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5 UI 审计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862072" y="35661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ui-audit.md + 解析 JSON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062472" y="35661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审三要素表 + 逐张截图发现，补充设计细节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0771632" y="3666744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需你确认</a:t>
            </a:r>
            <a:endParaRPr sz="8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76072" y="4064508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" y="406450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6 技术设计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862072" y="406450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tech-design.md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062472" y="406450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审组件架构、数据流、路由设计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0771632" y="4165092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需你确认</a:t>
            </a:r>
            <a:endParaRPr sz="800" b="1" i="0">
              <a:solidFill>
                <a:srgbClr val="018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576072" y="4562856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8952" y="4562856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7 代码生成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862072" y="4562856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execution.md + 代码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062472" y="4562856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逐分组人工审查（分组门禁），过了进下一组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10771632" y="4663440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EE822F"/>
                </a:solidFill>
                <a:latin typeface="微软雅黑"/>
                <a:ea typeface="微软雅黑"/>
                <a:cs typeface="微软雅黑"/>
              </a:rPr>
              <a:t>分组审查</a:t>
            </a:r>
            <a:endParaRPr sz="800" b="1" i="0">
              <a:solidFill>
                <a:srgbClr val="EE822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576072" y="5061204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8952" y="5061204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8 自测交付</a:t>
            </a:r>
            <a:endParaRPr sz="11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862072" y="5061204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交付总结</a:t>
            </a:r>
            <a:endParaRPr sz="1050" b="1" i="0">
              <a:solidFill>
                <a:srgbClr val="0180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062472" y="506120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验收 + 人工 CR，重点看校验逻辑与边界情况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10771632" y="5161788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5B8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800" b="1" i="0">
                <a:solidFill>
                  <a:srgbClr val="5B8F2E"/>
                </a:solidFill>
                <a:latin typeface="微软雅黑"/>
                <a:ea typeface="微软雅黑"/>
                <a:cs typeface="微软雅黑"/>
              </a:rPr>
              <a:t>终检</a:t>
            </a:r>
            <a:endParaRPr sz="800" b="1" i="0">
              <a:solidFill>
                <a:srgbClr val="5B8F2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76072" y="5632704"/>
            <a:ext cx="11036808" cy="530352"/>
          </a:xfrm>
          <a:prstGeom prst="roundRect">
            <a:avLst>
              <a:gd name="adj" fmla="val 5500"/>
            </a:avLst>
          </a:prstGeom>
          <a:solidFill>
            <a:srgbClr val="FDF4EA"/>
          </a:solidFill>
          <a:ln w="12700">
            <a:solidFill>
              <a:srgbClr val="F5D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/>
            <a:r>
              <a:rPr sz="1100" b="1" i="0">
                <a:solidFill>
                  <a:srgbClr val="EE822F"/>
                </a:solidFill>
                <a:latin typeface="微软雅黑"/>
                <a:ea typeface="微软雅黑"/>
                <a:cs typeface="微软雅黑"/>
              </a:rPr>
              <a:t>所有提问都是结构化问题卡片（AskUserQuestion），一次一问不轰炸；</a:t>
            </a: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你的确认 = 门禁放行，你的不满意 = 打回重做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17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驾驭 Skill 的正确姿势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它是流水线，你是质检员 + 产品经理 —— 方向你把关，脏活它全包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43000"/>
            <a:ext cx="5394960" cy="3886200"/>
          </a:xfrm>
          <a:prstGeom prst="roundRect">
            <a:avLst>
              <a:gd name="adj" fmla="val 5500"/>
            </a:avLst>
          </a:prstGeom>
          <a:solidFill>
            <a:srgbClr val="F0F9EB"/>
          </a:solidFill>
          <a:ln w="12700">
            <a:solidFill>
              <a:srgbClr val="D2E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" y="1353312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5B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√ DO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2" y="192024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门禁处认真看文档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确认 = 放行，不满意 = 打回，改到满意再继续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4672" y="269748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中断了别慌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直接重启，state.json 从断点续接，不用从头聊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4672" y="347472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改需求走 changeLog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小改回退 build 追加记录，大改走新需求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4672" y="425196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发现新坑随手沉淀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补一篇 gotcha，下次全需求自动引用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17920" y="1143000"/>
            <a:ext cx="5394960" cy="388620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46520" y="135331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× DON'T</a:t>
            </a:r>
            <a:endParaRPr sz="13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46520" y="192024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别催进度跳过确认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门禁是对你负责，不是形式主义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46520" y="269748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别让 AI 绕过 api-spec 猜接口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接口问题一律回到 api-spec.md 对齐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46520" y="347472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别跨平台混用规则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H5 流水线里不该出现 theme token（铁律 8）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46520" y="425196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别以样式合规为由删功能</a:t>
            </a:r>
            <a:endParaRPr sz="125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铁律 1：功能完整性永远优先</a:t>
            </a:r>
            <a:endParaRPr sz="105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76072" y="5257800"/>
            <a:ext cx="11036808" cy="868680"/>
          </a:xfrm>
          <a:prstGeom prst="roundRect">
            <a:avLst>
              <a:gd name="adj" fmla="val 5500"/>
            </a:avLst>
          </a:prstGeom>
          <a:solidFill>
            <a:srgbClr val="EFF6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" rIns="54864" bIns="18288" rtlCol="0" anchor="ctr"/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0180FF"/>
                </a:solidFill>
                <a:latin typeface="微软雅黑"/>
                <a:ea typeface="微软雅黑"/>
                <a:cs typeface="微软雅黑"/>
              </a:rPr>
              <a:t>遇到问题先查两处：</a:t>
            </a: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样式不还原 → audit 三要素表是否填全 / 偏差库是否未收录；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API 取值错 → 补一条 gotchas/api-patterns，下次永不再犯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18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05  </a:t>
              </a:r>
              <a:endParaRPr lang="en-US" altLang="zh-CN" sz="96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实战 · 项目落地</a:t>
              </a:r>
              <a:endParaRPr lang="en-US" altLang="zh-CN" sz="5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PART 05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真实需求全流程复盘 · 关键节点 · 数据</a:t>
            </a:r>
            <a:endParaRPr sz="16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19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实战案例：供应商抽检交互体验优化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H5 → RN 重构 · remote-app-fsms · 2026-08-04 ~ 08-05 · full 模式 · 首次验证一次通过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76072" y="1078992"/>
            <a:ext cx="598932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80160"/>
            <a:ext cx="548640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180FF"/>
                </a:solidFill>
                <a:latin typeface="微软雅黑"/>
                <a:ea typeface="微软雅黑"/>
              </a:rPr>
              <a:t>一条流水线跑完的真实需求</a:t>
            </a:r>
            <a:endParaRPr sz="1400" b="1">
              <a:solidFill>
                <a:srgbClr val="0180FF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▍需求背景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供应商抽检模块交互体验升级：把 scm 应用的 H5 页面（26 个文件）重构为 fsms 原生 RN 模块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▍输入材料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MasterGO 导出 HTML（容器_16090，18 屏画布）+ H5 源码（功能点唯一权威来源）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▍复杂度分级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standard → full：命中状态流转 × 权限点 × 14 接口，feature-spec 确认后自动升级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▍交付产物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23 个新文件（列表/详情/检验页 + 4 类弹层）· 24 功能点 · 6 份 SDD 文档 21.8 万字符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▍验收结果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8 站全部一次通过 · 双轴 Review 无 P0/P1 · 7 条设计偏差如实入库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748272" y="1078992"/>
            <a:ext cx="4864608" cy="2212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24358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1">
                <a:solidFill>
                  <a:srgbClr val="0180FF"/>
                </a:solidFill>
                <a:latin typeface="微软雅黑"/>
                <a:ea typeface="微软雅黑"/>
              </a:rPr>
              <a:t>起点：一句话唤起流水线</a:t>
            </a:r>
            <a:endParaRPr sz="1400" b="1">
              <a:solidFill>
                <a:srgbClr val="0180FF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67728" y="271465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>
                <a:solidFill>
                  <a:srgbClr val="8492A6"/>
                </a:solidFill>
                <a:latin typeface="微软雅黑"/>
                <a:ea typeface="微软雅黑"/>
              </a:rPr>
              <a:t>在 Qoder 对话输入 /design-to-code-max，AI 按 8 站流程逐站推进</a:t>
            </a:r>
            <a:endParaRPr sz="1100" b="0">
              <a:solidFill>
                <a:srgbClr val="8492A6"/>
              </a:solidFill>
              <a:latin typeface="微软雅黑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48272" y="3456432"/>
            <a:ext cx="486460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3621024"/>
            <a:ext cx="4480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B2A41"/>
                </a:solidFill>
                <a:latin typeface="微软雅黑"/>
                <a:ea typeface="微软雅黑"/>
              </a:rPr>
              <a:t>▍你只做 3 件事</a:t>
            </a:r>
            <a:endParaRPr sz="120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D4852"/>
                </a:solidFill>
                <a:latin typeface="微软雅黑"/>
                <a:ea typeface="微软雅黑"/>
              </a:rPr>
              <a:t>回答问题卡片 · 看文档确认 · 提修改意见</a:t>
            </a:r>
            <a:endParaRPr sz="110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B2A41"/>
                </a:solidFill>
                <a:latin typeface="微软雅黑"/>
                <a:ea typeface="微软雅黑"/>
              </a:rPr>
              <a:t>▍AI 负责全部执行</a:t>
            </a:r>
            <a:endParaRPr sz="120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D4852"/>
                </a:solidFill>
                <a:latin typeface="微软雅黑"/>
                <a:ea typeface="微软雅黑"/>
              </a:rPr>
              <a:t>解析设计稿 · 写规格 · 生成代码 · 自检自修</a:t>
            </a:r>
            <a:endParaRPr sz="110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9525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不是演示 Demo —— 是已进入代码仓库、通过人工 CR 的真实生产需求</a:t>
            </a:r>
            <a:endParaRPr sz="13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5216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design-to-code-max · 数字化中心前端分享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378440" y="645566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20 / 29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905" y="1832610"/>
            <a:ext cx="3981450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节点 ①  MasterGO 设计稿 → HTML 导出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设计师在 MasterGO 一键导出 HTML：18 屏画布 + 图标资源，是 UI 还原的唯一事实来源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Picture 4" descr="05-mastergo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115568"/>
            <a:ext cx="7223760" cy="19083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6072" y="3069662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>
                <a:solidFill>
                  <a:srgbClr val="8492A6"/>
                </a:solidFill>
                <a:latin typeface="微软雅黑"/>
                <a:ea typeface="微软雅黑"/>
              </a:rPr>
              <a:t>容器_16090.html 全景：列表 / 筛选 / 制单详情 / 审核详情 / 完成详情 5 大分区</a:t>
            </a:r>
            <a:endParaRPr sz="1100" b="0">
              <a:solidFill>
                <a:srgbClr val="8492A6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92440" y="1188720"/>
            <a:ext cx="35204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1B2A41"/>
                </a:solidFill>
                <a:latin typeface="微软雅黑"/>
                <a:ea typeface="微软雅黑"/>
              </a:rPr>
              <a:t>▍为什么导出 HTML</a:t>
            </a:r>
            <a:endParaRPr sz="11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3D4852"/>
                </a:solidFill>
                <a:latin typeface="微软雅黑"/>
                <a:ea typeface="微软雅黑"/>
              </a:rPr>
              <a:t>截图只是像素，HTML 带结构化样式：每个值都能精确读取</a:t>
            </a:r>
            <a:endParaRPr sz="10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B2A41"/>
                </a:solidFill>
                <a:latin typeface="微软雅黑"/>
                <a:ea typeface="微软雅黑"/>
              </a:rPr>
              <a:t>▍18 屏全覆盖</a:t>
            </a:r>
            <a:endParaRPr sz="11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3D4852"/>
                </a:solidFill>
                <a:latin typeface="微软雅黑"/>
                <a:ea typeface="微软雅黑"/>
              </a:rPr>
              <a:t>FP-001~023 全部功能点都有对应设计屏</a:t>
            </a:r>
            <a:endParaRPr sz="10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B2A41"/>
                </a:solidFill>
                <a:latin typeface="微软雅黑"/>
                <a:ea typeface="微软雅黑"/>
              </a:rPr>
              <a:t>▍无需设计标注</a:t>
            </a:r>
            <a:endParaRPr sz="11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3D4852"/>
                </a:solidFill>
                <a:latin typeface="微软雅黑"/>
                <a:ea typeface="微软雅黑"/>
              </a:rPr>
              <a:t>间距/字号/颜色直接从 DOM 解析</a:t>
            </a:r>
            <a:endParaRPr sz="105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pic>
        <p:nvPicPr>
          <p:cNvPr id="8" name="Picture 7" descr="02-mastergo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47872"/>
            <a:ext cx="1505043" cy="1938528"/>
          </a:xfrm>
          <a:prstGeom prst="rect">
            <a:avLst/>
          </a:prstGeom>
        </p:spPr>
      </p:pic>
      <p:pic>
        <p:nvPicPr>
          <p:cNvPr id="9" name="Picture 8" descr="03-mastergo-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875" y="3547872"/>
            <a:ext cx="1207314" cy="1938528"/>
          </a:xfrm>
          <a:prstGeom prst="rect">
            <a:avLst/>
          </a:prstGeom>
        </p:spPr>
      </p:pic>
      <p:pic>
        <p:nvPicPr>
          <p:cNvPr id="10" name="Picture 9" descr="04-mastergo-checkpop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0221" y="3547872"/>
            <a:ext cx="1505043" cy="19385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71880" y="3611880"/>
            <a:ext cx="5840999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1B2A41"/>
                </a:solidFill>
                <a:latin typeface="微软雅黑"/>
                <a:ea typeface="微软雅黑"/>
              </a:rPr>
              <a:t>▍列表页</a:t>
            </a:r>
            <a:endParaRPr sz="11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3D4852"/>
                </a:solidFill>
                <a:latin typeface="微软雅黑"/>
                <a:ea typeface="微软雅黑"/>
              </a:rPr>
              <a:t>三态 Tab + 差异卡片 + 合计栏</a:t>
            </a:r>
            <a:endParaRPr sz="10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B2A41"/>
                </a:solidFill>
                <a:latin typeface="微软雅黑"/>
                <a:ea typeface="微软雅黑"/>
              </a:rPr>
              <a:t>▍审核详情页</a:t>
            </a:r>
            <a:endParaRPr sz="11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3D4852"/>
                </a:solidFill>
                <a:latin typeface="微软雅黑"/>
                <a:ea typeface="微软雅黑"/>
              </a:rPr>
              <a:t>状态 Banner + 商品卡标签组</a:t>
            </a:r>
            <a:endParaRPr sz="10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1B2A41"/>
                </a:solidFill>
                <a:latin typeface="微软雅黑"/>
                <a:ea typeface="微软雅黑"/>
              </a:rPr>
              <a:t>▍商品检验弹窗</a:t>
            </a:r>
            <a:endParaRPr sz="11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3D4852"/>
                </a:solidFill>
                <a:latin typeface="微软雅黑"/>
                <a:ea typeface="微软雅黑"/>
              </a:rPr>
              <a:t>含设计稿新增 5 字段（异常类别等）</a:t>
            </a:r>
            <a:endParaRPr sz="105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9525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HTML 导出 = D2C 的起点：设计稿从「一张图」变成「可解析的数据」</a:t>
            </a:r>
            <a:endParaRPr sz="13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5216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design-to-code-max · 数字化中心前端分享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78440" y="645566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21 / 29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节点 ②  D2C 结构化解析：HTML → parsed-styles JSON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audit 阶段把 HTML 逐元素解析成「三要素」规格，每个样式值 = 原始值 + token 映射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Picture 4" descr="06-parsed-sty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115568"/>
            <a:ext cx="4678147" cy="4315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0760" y="1207008"/>
            <a:ext cx="553212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180FF"/>
                </a:solidFill>
                <a:latin typeface="微软雅黑"/>
                <a:ea typeface="微软雅黑"/>
              </a:rPr>
              <a:t>本案例解析产物：11 个 UI 块 · 67,201 字符</a:t>
            </a:r>
            <a:endParaRPr sz="1400" b="1">
              <a:solidFill>
                <a:srgbClr val="0180FF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▍三要素提取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layout 布局 / typography 字体 / spacing 间距样式，逐元素逐属性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▍token 映射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#111425 → theme['color-text-icon-0']、18px → FONT.SIZE_18；映射不到的进 unmappedTokens 人工裁决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▍iconMap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设计稿 SVG → 组件库图标名，无法映射的显式登记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▍build 直接消费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node 脚本按 selector 提取节点写代码 —— 这次 12px，下次还是 12px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9525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UI 还原不靠 AI 记忆，靠结构化数据 —— 这是「高还原」的底层机制</a:t>
            </a:r>
            <a:endParaRPr sz="13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5216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design-to-code-max · 数字化中心前端分享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78440" y="645566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22 / 29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节点 ③  文档流水线：6 份 SDD 文档，21.8 万字符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每站产出文档 + 等你确认才推进 —— 过程全部可追溯，中断也能从断点续接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Picture 4" descr="07-sdd-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115568"/>
            <a:ext cx="4678147" cy="4315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0760" y="1207008"/>
            <a:ext cx="553212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180FF"/>
                </a:solidFill>
                <a:latin typeface="微软雅黑"/>
                <a:ea typeface="微软雅黑"/>
              </a:rPr>
              <a:t>文档不是负担，是验收依据</a:t>
            </a:r>
            <a:endParaRPr sz="1400" b="1">
              <a:solidFill>
                <a:srgbClr val="0180FF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▍features.md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24 个功能点，逐条标注来源与联动；full 模式含状态迁移矩阵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▍api-spec.md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14 接口的入参/出参/取值路径 —— build 阶段唯一事实来源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▍ui-audit.md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材料盘点 + 三要素规格表 + 组件决策表（黑盒差异预补偿）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▍tech-design.md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组件架构对齐项目既有模式，不引入新范式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▍execution.md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8 分组 32 步，每步记录耗时与门禁结果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9525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review 逐条对照 features.md 验收 —— 24/24 通过才有底气说「做完了」</a:t>
            </a:r>
            <a:endParaRPr sz="13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5216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design-to-code-max · 数字化中心前端分享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78440" y="645566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23 / 29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节点 ④  分组 build：23 个文件，token 级还原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按 tech-design 分 8 组推进，每组过门禁才进下一组；样式全部走 theme token，零硬编码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Picture 4" descr="08-generated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115568"/>
            <a:ext cx="4678147" cy="4315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0760" y="1207008"/>
            <a:ext cx="553212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180FF"/>
                </a:solidFill>
                <a:latin typeface="微软雅黑"/>
                <a:ea typeface="微软雅黑"/>
              </a:rPr>
              <a:t>示例：stateBanner.tsx 三态 Banner</a:t>
            </a:r>
            <a:endParaRPr sz="1400" b="1">
              <a:solidFill>
                <a:srgbClr val="0180FF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▍分组门禁 ×8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tsc 编译 + dependencies 扫描 + API 取值检查 + 字段完整性 + 人工审查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▍样式有据可查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每个组件顶部注释写明样式来自 parsed-styles 哪个节点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▍铁律 2 落地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hex/rgba 只出现在注释里；无 token 的尺寸硬编码必须注释原因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▍偏差如实记录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组件黑盒差异（遮罩色等）记入 design-deviation-db.json，共 7 条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9525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AI 生成 + 门禁检查 + 人工 CR —— 三层把关，代码直接进生产分支</a:t>
            </a:r>
            <a:endParaRPr sz="13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5216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design-to-code-max · 数字化中心前端分享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78440" y="645566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24 / 29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节点 ⑤  双轴 Review + 数据复盘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Standards 规范轴 + Spec 规格轴交叉审查；耗时与文档规模由 dtc-metrics 脚本自动统计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Picture 4" descr="09-review-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115568"/>
            <a:ext cx="4678147" cy="4315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0760" y="1207008"/>
            <a:ext cx="553212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180FF"/>
                </a:solidFill>
                <a:latin typeface="微软雅黑"/>
                <a:ea typeface="微软雅黑"/>
              </a:rPr>
              <a:t>Review 结论：通过</a:t>
            </a:r>
            <a:endParaRPr sz="1400" b="1">
              <a:solidFill>
                <a:srgbClr val="0180FF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▍无 P0 / P1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2 处 P3 自查即修（硬编码字号 / 定高列表）；2 项接受风险并说明理由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▍失败可见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不掩盖偏差：7 条设计偏差全部入库，下次 audit 自动预标注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▍耗时分布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文档阶段合计 ~39 分钟；build 851 分钟含逐组人工审查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B2A41"/>
                </a:solidFill>
                <a:latin typeface="微软雅黑"/>
                <a:ea typeface="微软雅黑"/>
              </a:rPr>
              <a:t>▍可复制</a:t>
            </a:r>
            <a:endParaRPr sz="1250" b="1">
              <a:solidFill>
                <a:srgbClr val="1B2A41"/>
              </a:solidFill>
              <a:latin typeface="微软雅黑"/>
              <a:ea typeface="微软雅黑"/>
            </a:endParaRP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D4852"/>
                </a:solidFill>
                <a:latin typeface="微软雅黑"/>
                <a:ea typeface="微软雅黑"/>
              </a:rPr>
              <a:t>同一套流程换个需求重跑即可 —— 经验留在 skill 里，不留在对话里</a:t>
            </a:r>
            <a:endParaRPr sz="1150" b="0">
              <a:solidFill>
                <a:srgbClr val="3D4852"/>
              </a:solidFill>
              <a:latin typeface="微软雅黑"/>
              <a:ea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9525">
            <a:solidFill>
              <a:srgbClr val="334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从设计稿到生产代码：1 个人 + 1 条流水线，全程有据可查</a:t>
            </a:r>
            <a:endParaRPr sz="1300" b="1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5216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design-to-code-max · 数字化中心前端分享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78440" y="645566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B7C3D0"/>
                </a:solidFill>
                <a:latin typeface="微软雅黑"/>
                <a:ea typeface="微软雅黑"/>
              </a:rPr>
              <a:t>25 / 29</a:t>
            </a:r>
            <a:endParaRPr sz="1000" b="0">
              <a:solidFill>
                <a:srgbClr val="B7C3D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微软雅黑" panose="020B0503020204020204" charset="-122"/>
                  <a:ea typeface="微软雅黑" panose="020B0503020204020204" charset="-122"/>
                </a:rPr>
                <a:t>06  </a:t>
              </a:r>
              <a:endParaRPr lang="en-US" altLang="zh-CN" sz="9600" b="1">
                <a:solidFill>
                  <a:srgbClr val="018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共建 · 团队玩法</a:t>
              </a:r>
              <a:endParaRPr lang="en-US" altLang="zh-CN" sz="5800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</a:rPr>
              <a:t>PART 06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仓库管理 · 偏差库共享 · 入门建议</a:t>
            </a:r>
            <a:endParaRPr sz="16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26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团队协作：一个人的踩坑，全队的资产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skill 市场统一分发，经验持续沉淀，越用越强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88720"/>
            <a:ext cx="5394960" cy="19385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6072" y="1371600"/>
            <a:ext cx="64008" cy="1572768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138988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市场统一分发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3816" y="1865376"/>
            <a:ext cx="49377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所有 skill 上架 XLB 插件 Skills 市场，复制 curl 一键安装；更新重跑一次即最新，不用逐个拷贝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17920" y="1188720"/>
            <a:ext cx="5394960" cy="19385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1371600"/>
            <a:ext cx="64008" cy="1572768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138988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偏差库共享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55664" y="1865376"/>
            <a:ext cx="49377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design-deviation-db.json 记录全部已知组件差异；建议定期同步到仓库或共享目录，一人发现全队受益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76072" y="3310128"/>
            <a:ext cx="5394960" cy="19385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76072" y="3493008"/>
            <a:ext cx="64008" cy="1572768"/>
          </a:xfrm>
          <a:prstGeom prst="roundRect">
            <a:avLst>
              <a:gd name="adj" fmla="val 50000"/>
            </a:avLst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351129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gotchas 持续补充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3816" y="3986784"/>
            <a:ext cx="49377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遇到新坑就加一篇 markdown 提交仓库，后续所有需求在 build / verify 阶段自动引用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217920" y="3310128"/>
            <a:ext cx="5394960" cy="19385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17920" y="3493008"/>
            <a:ext cx="64008" cy="1572768"/>
          </a:xfrm>
          <a:prstGeom prst="roundRect">
            <a:avLst>
              <a:gd name="adj" fmla="val 50000"/>
            </a:avLst>
          </a:prstGeom>
          <a:solidFill>
            <a:srgbClr val="5B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351129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AI 生成 + 人工 CR</a:t>
            </a:r>
            <a:endParaRPr sz="15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55664" y="3986784"/>
            <a:ext cx="49377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AI 写代码，人做 Code Review；重点看校验逻辑与边界情况，效率与质量兼得</a:t>
            </a:r>
            <a:endParaRPr sz="115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76072" y="557784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目标：让「如何写出好代码」的知识，沉淀在仓库里，而不是只存在某个人的脑子里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27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入门建议：今天就跑通第一个需求</a:t>
            </a:r>
            <a:endParaRPr lang="zh-CN" altLang="en-US" sz="2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微软雅黑"/>
                <a:ea typeface="微软雅黑"/>
                <a:cs typeface="微软雅黑"/>
              </a:rPr>
              <a:t>从一个真实的小需求开始，完整走一遍流水线</a:t>
            </a:r>
            <a:endParaRPr sz="1200" b="0" i="0">
              <a:solidFill>
                <a:srgbClr val="8492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" y="1143000"/>
            <a:ext cx="594360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12984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五条入门建议</a:t>
            </a:r>
            <a:endParaRPr sz="1400" b="1" i="0">
              <a:solidFill>
                <a:srgbClr val="1B2A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04672" y="1773936"/>
            <a:ext cx="310896" cy="31089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43584" y="1773936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第一次用：</a:t>
            </a: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从入口到交付完整跟一个需求，感受每个阶段的产出与门禁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804672" y="2432303"/>
            <a:ext cx="310896" cy="31089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43584" y="2432303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中断了别慌：</a:t>
            </a: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state.json 记得进度，重启直接续接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04672" y="3090671"/>
            <a:ext cx="310896" cy="31089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43584" y="3090671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样式不还原：</a:t>
            </a: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大概率 audit 三要素表没填全，或偏差库还没收录这个问题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804672" y="3749039"/>
            <a:ext cx="310896" cy="31089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43584" y="3749039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写错 API 取值：</a:t>
            </a: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加到 gotchas/api-patterns/ 下，下次就不会再错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04672" y="4407407"/>
            <a:ext cx="310896" cy="31089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1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43584" y="4407407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2A41"/>
                </a:solidFill>
                <a:latin typeface="微软雅黑"/>
                <a:ea typeface="微软雅黑"/>
                <a:cs typeface="微软雅黑"/>
              </a:rPr>
              <a:t>装完看不到：</a:t>
            </a:r>
            <a:r>
              <a:rPr sz="1100" b="0" i="0">
                <a:solidFill>
                  <a:srgbClr val="3D4852"/>
                </a:solidFill>
                <a:latin typeface="微软雅黑"/>
                <a:ea typeface="微软雅黑"/>
                <a:cs typeface="微软雅黑"/>
              </a:rPr>
              <a:t>确认 ~/.qoder/skills/ 下目录内含 SKILL.md，再重启 Qoder</a:t>
            </a:r>
            <a:endParaRPr sz="1100" b="0" i="0">
              <a:solidFill>
                <a:srgbClr val="3D485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720840" y="1143000"/>
            <a:ext cx="4892040" cy="3977639"/>
          </a:xfrm>
          <a:prstGeom prst="roundRect">
            <a:avLst>
              <a:gd name="adj" fmla="val 55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60" y="1417320"/>
            <a:ext cx="43891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「不是让你学怎么用 AI ——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是让 AI 按一套标准流程干活，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别每次都得从头教它。」</a:t>
            </a:r>
            <a:endParaRPr sz="15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995160" y="3063240"/>
            <a:ext cx="685800" cy="45720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60" y="3246120"/>
            <a:ext cx="43891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7EC3FF"/>
                </a:solidFill>
                <a:latin typeface="微软雅黑"/>
                <a:ea typeface="微软雅黑"/>
                <a:cs typeface="微软雅黑"/>
              </a:rPr>
              <a:t>期待：</a:t>
            </a:r>
            <a:endParaRPr sz="1200" b="1" i="0">
              <a:solidFill>
                <a:srgbClr val="7EC3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9D6E8"/>
                </a:solidFill>
                <a:latin typeface="微软雅黑"/>
                <a:ea typeface="微软雅黑"/>
                <a:cs typeface="微软雅黑"/>
              </a:rPr>
              <a:t>每个需求都快一点、稳一点</a:t>
            </a:r>
            <a:endParaRPr sz="1200" b="0" i="0">
              <a:solidFill>
                <a:srgbClr val="C9D6E8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9D6E8"/>
                </a:solidFill>
                <a:latin typeface="微软雅黑"/>
                <a:ea typeface="微软雅黑"/>
                <a:cs typeface="微软雅黑"/>
              </a:rPr>
              <a:t>团队的坑越来越少，skill 越来越聪明</a:t>
            </a:r>
            <a:endParaRPr sz="1200" b="0" i="0">
              <a:solidFill>
                <a:srgbClr val="C9D6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76072" y="557784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现在就动手：Skills 市场搜 design-to-code-max → 一键安装 → 跑通你的第一个真实需求</a:t>
            </a:r>
            <a:endParaRPr sz="14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28 / 29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微软雅黑"/>
                <a:ea typeface="微软雅黑"/>
                <a:cs typeface="微软雅黑"/>
              </a:rPr>
              <a:t>design-to-code-max · 数字化中心前端分享</a:t>
            </a:r>
            <a:endParaRPr sz="900" b="0" i="0">
              <a:solidFill>
                <a:srgbClr val="B7C3D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1723390" y="4095750"/>
            <a:ext cx="8745220" cy="983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5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谢谢观看 · Q&amp;A</a:t>
            </a:r>
            <a:endParaRPr lang="zh-CN" altLang="en-US" sz="5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37360" y="525780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BFE0FF"/>
                </a:solidFill>
                <a:latin typeface="微软雅黑"/>
                <a:ea typeface="微软雅黑"/>
                <a:cs typeface="微软雅黑"/>
              </a:rPr>
              <a:t>skill 获取：XLB 前端开发插件官网 → Skills 市场 → 搜索 design-to-code-max</a:t>
            </a:r>
            <a:endParaRPr sz="1300" b="0" i="0">
              <a:solidFill>
                <a:srgbClr val="BFE0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37360" y="566928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BFE0FF"/>
                </a:solidFill>
                <a:latin typeface="微软雅黑"/>
                <a:ea typeface="微软雅黑"/>
                <a:cs typeface="微软雅黑"/>
              </a:rPr>
              <a:t>数字化中心 · 前端技术部　｜　欢迎试用，欢迎拍砖，欢迎一起补 gotchas</a:t>
            </a:r>
            <a:endParaRPr sz="1200" b="0" i="0">
              <a:solidFill>
                <a:srgbClr val="BFE0FF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9887</Words>
  <Application>WPS 演示</Application>
  <PresentationFormat>宽屏</PresentationFormat>
  <Paragraphs>888</Paragraphs>
  <Slides>29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8" baseType="lpstr">
      <vt:lpstr>Arial</vt:lpstr>
      <vt:lpstr>宋体</vt:lpstr>
      <vt:lpstr>Wingdings</vt:lpstr>
      <vt:lpstr>微软雅黑</vt:lpstr>
      <vt:lpstr>汉仪旗黑</vt:lpstr>
      <vt:lpstr>微软雅黑</vt:lpstr>
      <vt:lpstr>Consolas</vt:lpstr>
      <vt:lpstr>Calibri</vt:lpstr>
      <vt:lpstr>Helvetica Neue</vt:lpstr>
      <vt:lpstr>宋体</vt:lpstr>
      <vt:lpstr>Arial Unicode MS</vt:lpstr>
      <vt:lpstr>汉仪书宋二KW</vt:lpstr>
      <vt:lpstr>Thonburi</vt:lpstr>
      <vt:lpstr>Consolas</vt:lpstr>
      <vt:lpstr>微软雅黑</vt:lpstr>
      <vt:lpstr>苹方-简</vt:lpstr>
      <vt:lpstr>Apple Color Emoji</vt:lpstr>
      <vt:lpstr>儷宋 Pro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宝宝</cp:lastModifiedBy>
  <cp:revision>80</cp:revision>
  <dcterms:created xsi:type="dcterms:W3CDTF">2026-08-06T12:40:00Z</dcterms:created>
  <dcterms:modified xsi:type="dcterms:W3CDTF">2026-08-06T12:40:00Z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6CDB6E1959BDC3939F8C646896418874_41</vt:lpwstr>
  </property>
</Properties>
</file>